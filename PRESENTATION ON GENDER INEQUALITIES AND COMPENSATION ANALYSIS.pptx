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71" r:id="rId3"/>
    <p:sldId id="270" r:id="rId4"/>
    <p:sldId id="258" r:id="rId5"/>
    <p:sldId id="259" r:id="rId6"/>
    <p:sldId id="272" r:id="rId7"/>
    <p:sldId id="261" r:id="rId8"/>
    <p:sldId id="273" r:id="rId9"/>
    <p:sldId id="263" r:id="rId10"/>
    <p:sldId id="274" r:id="rId11"/>
    <p:sldId id="265" r:id="rId12"/>
    <p:sldId id="267" r:id="rId13"/>
    <p:sldId id="269" r:id="rId14"/>
    <p:sldId id="275" r:id="rId15"/>
    <p:sldId id="276" r:id="rId16"/>
    <p:sldId id="279" r:id="rId17"/>
    <p:sldId id="281" r:id="rId18"/>
    <p:sldId id="282" r:id="rId19"/>
    <p:sldId id="283" r:id="rId20"/>
    <p:sldId id="28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13" autoAdjust="0"/>
    <p:restoredTop sz="94660"/>
  </p:normalViewPr>
  <p:slideViewPr>
    <p:cSldViewPr>
      <p:cViewPr>
        <p:scale>
          <a:sx n="78" d="100"/>
          <a:sy n="78" d="100"/>
        </p:scale>
        <p:origin x="-1104" y="300"/>
      </p:cViewPr>
      <p:guideLst>
        <p:guide orient="horz" pos="2160"/>
        <p:guide pos="2880"/>
      </p:guideLst>
    </p:cSldViewPr>
  </p:slideViewPr>
  <p:notesTextViewPr>
    <p:cViewPr>
      <p:scale>
        <a:sx n="100" d="100"/>
        <a:sy n="100" d="100"/>
      </p:scale>
      <p:origin x="0" y="14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32A1B03-4A09-4B58-A4E8-BB2E3E8EBDE8}" type="datetimeFigureOut">
              <a:rPr lang="en-US" smtClean="0"/>
              <a:t>1/30/2026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A0E7F0-4D99-4E04-A600-6A31C5CE255F}" type="slidenum">
              <a:rPr lang="en-US" smtClean="0"/>
              <a:t>‹#›</a:t>
            </a:fld>
            <a:endParaRPr lang="en-US"/>
          </a:p>
        </p:txBody>
      </p:sp>
    </p:spTree>
    <p:extLst>
      <p:ext uri="{BB962C8B-B14F-4D97-AF65-F5344CB8AC3E}">
        <p14:creationId xmlns:p14="http://schemas.microsoft.com/office/powerpoint/2010/main" val="4054263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Good day Ma. This presentation focuses on an HR Analytics project carried out for Palmoria Group.</a:t>
            </a:r>
          </a:p>
          <a:p>
            <a:r>
              <a:rPr lang="en-US" sz="1200" b="1" kern="1200" dirty="0" smtClean="0">
                <a:solidFill>
                  <a:schemeClr val="tx1"/>
                </a:solidFill>
                <a:effectLst/>
                <a:latin typeface="+mn-lt"/>
                <a:ea typeface="+mn-ea"/>
                <a:cs typeface="+mn-cs"/>
              </a:rPr>
              <a:t>The objective of the project is to analyze gender equality, compensation structure, performance ratings, and regulatory compliance using Power BI Desktop.</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a:t>
            </a:fld>
            <a:endParaRPr lang="en-US"/>
          </a:p>
        </p:txBody>
      </p:sp>
    </p:spTree>
    <p:extLst>
      <p:ext uri="{BB962C8B-B14F-4D97-AF65-F5344CB8AC3E}">
        <p14:creationId xmlns:p14="http://schemas.microsoft.com/office/powerpoint/2010/main" val="3991067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For this analysis, two primary datasets were provided by </a:t>
            </a:r>
            <a:r>
              <a:rPr lang="en-US" sz="1200" b="1" kern="1200" dirty="0" err="1" smtClean="0">
                <a:solidFill>
                  <a:schemeClr val="tx1"/>
                </a:solidFill>
                <a:effectLst/>
                <a:latin typeface="+mn-lt"/>
                <a:ea typeface="+mn-ea"/>
                <a:cs typeface="+mn-cs"/>
              </a:rPr>
              <a:t>Palmoria</a:t>
            </a:r>
            <a:r>
              <a:rPr lang="en-US" sz="1200" b="1" kern="1200" dirty="0" smtClean="0">
                <a:solidFill>
                  <a:schemeClr val="tx1"/>
                </a:solidFill>
                <a:effectLst/>
                <a:latin typeface="+mn-lt"/>
                <a:ea typeface="+mn-ea"/>
                <a:cs typeface="+mn-cs"/>
              </a:rPr>
              <a:t> Group and form the foundation of all insights presented.</a:t>
            </a:r>
          </a:p>
          <a:p>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The first dataset is the Employee Dataset, which contains employee-level information such as gender, department, region, salary, and performance rating. This dataset allows us to examine workforce composition, gender distribution, performance outcomes, and compensation patterns across the organization.</a:t>
            </a:r>
          </a:p>
          <a:p>
            <a:r>
              <a:rPr lang="en-US" sz="1200" b="1" kern="1200" dirty="0" smtClean="0">
                <a:solidFill>
                  <a:schemeClr val="tx1"/>
                </a:solidFill>
                <a:effectLst/>
                <a:latin typeface="+mn-lt"/>
                <a:ea typeface="+mn-ea"/>
                <a:cs typeface="+mn-cs"/>
              </a:rPr>
              <a:t>The second dataset is the Bonus Rules Dataset, which defines how bonuses are allocated based on performance ratings. It specifies the bonus percentage attached to each rating level.</a:t>
            </a:r>
          </a:p>
          <a:p>
            <a:r>
              <a:rPr lang="en-US" sz="1200" b="1" kern="1200" dirty="0" smtClean="0">
                <a:solidFill>
                  <a:schemeClr val="tx1"/>
                </a:solidFill>
                <a:effectLst/>
                <a:latin typeface="+mn-lt"/>
                <a:ea typeface="+mn-ea"/>
                <a:cs typeface="+mn-cs"/>
              </a:rPr>
              <a:t>Before analysis, the data was carefully prepared in line with management and project requirements. Employees without salaries—who are no longer with the company—were removed. Records with NULL departments were excluded, and employees who did not disclose their gender were assigned a generic ‘Undisclosed’ category.</a:t>
            </a:r>
          </a:p>
          <a:p>
            <a:r>
              <a:rPr lang="en-US" sz="1200" b="1" kern="1200" dirty="0" smtClean="0">
                <a:solidFill>
                  <a:schemeClr val="tx1"/>
                </a:solidFill>
                <a:effectLst/>
                <a:latin typeface="+mn-lt"/>
                <a:ea typeface="+mn-ea"/>
                <a:cs typeface="+mn-cs"/>
              </a:rPr>
              <a:t>Both datasets were then integrated and modeled in Power BI, enabling accurate calculation of bonuses, total compensation, and gender-based comparisons across regions and departments.”</a:t>
            </a:r>
          </a:p>
          <a:p>
            <a:r>
              <a:rPr lang="en-US" sz="1200" b="1" kern="1200" dirty="0" smtClean="0">
                <a:solidFill>
                  <a:schemeClr val="tx1"/>
                </a:solidFill>
                <a:effectLst/>
                <a:latin typeface="+mn-lt"/>
                <a:ea typeface="+mn-ea"/>
                <a:cs typeface="+mn-cs"/>
              </a:rPr>
              <a:t> </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2</a:t>
            </a:fld>
            <a:endParaRPr lang="en-US"/>
          </a:p>
        </p:txBody>
      </p:sp>
    </p:spTree>
    <p:extLst>
      <p:ext uri="{BB962C8B-B14F-4D97-AF65-F5344CB8AC3E}">
        <p14:creationId xmlns:p14="http://schemas.microsoft.com/office/powerpoint/2010/main" val="1318639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analysis was conducted to support </a:t>
            </a:r>
            <a:r>
              <a:rPr lang="en-US" sz="1200" b="1" kern="1200" dirty="0" err="1" smtClean="0">
                <a:solidFill>
                  <a:schemeClr val="tx1"/>
                </a:solidFill>
                <a:effectLst/>
                <a:latin typeface="+mn-lt"/>
                <a:ea typeface="+mn-ea"/>
                <a:cs typeface="+mn-cs"/>
              </a:rPr>
              <a:t>Palmoria</a:t>
            </a:r>
            <a:r>
              <a:rPr lang="en-US" sz="1200" b="1" kern="1200" dirty="0" smtClean="0">
                <a:solidFill>
                  <a:schemeClr val="tx1"/>
                </a:solidFill>
                <a:effectLst/>
                <a:latin typeface="+mn-lt"/>
                <a:ea typeface="+mn-ea"/>
                <a:cs typeface="+mn-cs"/>
              </a:rPr>
              <a:t> Group’s leadership in addressing growing concerns around gender inequality and compensation fairness.</a:t>
            </a:r>
          </a:p>
          <a:p>
            <a:r>
              <a:rPr lang="en-US" sz="1200" b="1" kern="1200" dirty="0" smtClean="0">
                <a:solidFill>
                  <a:schemeClr val="tx1"/>
                </a:solidFill>
                <a:effectLst/>
                <a:latin typeface="+mn-lt"/>
                <a:ea typeface="+mn-ea"/>
                <a:cs typeface="+mn-cs"/>
              </a:rPr>
              <a:t>The first objective was to examine gender distribution across the organization, with specific focus on regions and departments, to identify areas of imbalance.</a:t>
            </a:r>
          </a:p>
          <a:p>
            <a:r>
              <a:rPr lang="en-US" sz="1200" b="1" kern="1200" dirty="0" smtClean="0">
                <a:solidFill>
                  <a:schemeClr val="tx1"/>
                </a:solidFill>
                <a:effectLst/>
                <a:latin typeface="+mn-lt"/>
                <a:ea typeface="+mn-ea"/>
                <a:cs typeface="+mn-cs"/>
              </a:rPr>
              <a:t>Secondly, we analyzed performance ratings by gender to understand whether evaluation outcomes differ between male and female employees, especially since bonuses are performance-driven.</a:t>
            </a:r>
          </a:p>
          <a:p>
            <a:r>
              <a:rPr lang="en-US" sz="1200" b="1" kern="1200" dirty="0" smtClean="0">
                <a:solidFill>
                  <a:schemeClr val="tx1"/>
                </a:solidFill>
                <a:effectLst/>
                <a:latin typeface="+mn-lt"/>
                <a:ea typeface="+mn-ea"/>
                <a:cs typeface="+mn-cs"/>
              </a:rPr>
              <a:t>Another key objective was to assess the company’s salary structure and identify the presence of any gender pay gaps, as well as pinpoint departments or regions where disparities are most pronounced.</a:t>
            </a:r>
          </a:p>
          <a:p>
            <a:r>
              <a:rPr lang="en-US" sz="1200" b="1" kern="1200" dirty="0" smtClean="0">
                <a:solidFill>
                  <a:schemeClr val="tx1"/>
                </a:solidFill>
                <a:effectLst/>
                <a:latin typeface="+mn-lt"/>
                <a:ea typeface="+mn-ea"/>
                <a:cs typeface="+mn-cs"/>
              </a:rPr>
              <a:t>In response to recent labor regulations, we also evaluated compliance with the $90,000 minimum wage requirement, including salary band analysis in $10,000 intervals.</a:t>
            </a:r>
          </a:p>
          <a:p>
            <a:r>
              <a:rPr lang="en-US" sz="1200" b="1" kern="1200" dirty="0" smtClean="0">
                <a:solidFill>
                  <a:schemeClr val="tx1"/>
                </a:solidFill>
                <a:effectLst/>
                <a:latin typeface="+mn-lt"/>
                <a:ea typeface="+mn-ea"/>
                <a:cs typeface="+mn-cs"/>
              </a:rPr>
              <a:t>Finally, the analysis aimed to calculate bonus payments and total compensation, both at employee level and across regions, to understand how performance, pay, and gender intersect within </a:t>
            </a:r>
            <a:r>
              <a:rPr lang="en-US" sz="1200" b="1" kern="1200" dirty="0" err="1" smtClean="0">
                <a:solidFill>
                  <a:schemeClr val="tx1"/>
                </a:solidFill>
                <a:effectLst/>
                <a:latin typeface="+mn-lt"/>
                <a:ea typeface="+mn-ea"/>
                <a:cs typeface="+mn-cs"/>
              </a:rPr>
              <a:t>Palmoria</a:t>
            </a:r>
            <a:r>
              <a:rPr lang="en-US" sz="1200" b="1" kern="1200" dirty="0" smtClean="0">
                <a:solidFill>
                  <a:schemeClr val="tx1"/>
                </a:solidFill>
                <a:effectLst/>
                <a:latin typeface="+mn-lt"/>
                <a:ea typeface="+mn-ea"/>
                <a:cs typeface="+mn-cs"/>
              </a:rPr>
              <a:t> Group.</a:t>
            </a:r>
          </a:p>
          <a:p>
            <a:r>
              <a:rPr lang="en-US" sz="1200" b="1" kern="1200" dirty="0" smtClean="0">
                <a:solidFill>
                  <a:schemeClr val="tx1"/>
                </a:solidFill>
                <a:effectLst/>
                <a:latin typeface="+mn-lt"/>
                <a:ea typeface="+mn-ea"/>
                <a:cs typeface="+mn-cs"/>
              </a:rPr>
              <a:t>Overall, these objectives ensure that management decisions are data-driven, compliant, and aligned with gender equity goals.”</a:t>
            </a:r>
          </a:p>
          <a:p>
            <a:r>
              <a:rPr lang="en-US" sz="1200" b="1" kern="1200" dirty="0" smtClean="0">
                <a:solidFill>
                  <a:schemeClr val="tx1"/>
                </a:solidFill>
                <a:effectLst/>
                <a:latin typeface="+mn-lt"/>
                <a:ea typeface="+mn-ea"/>
                <a:cs typeface="+mn-cs"/>
              </a:rPr>
              <a:t> </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3</a:t>
            </a:fld>
            <a:endParaRPr lang="en-US"/>
          </a:p>
        </p:txBody>
      </p:sp>
    </p:spTree>
    <p:extLst>
      <p:ext uri="{BB962C8B-B14F-4D97-AF65-F5344CB8AC3E}">
        <p14:creationId xmlns:p14="http://schemas.microsoft.com/office/powerpoint/2010/main" val="2951338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Before analysis, the dataset was cleaned using Power Query in Power BI.</a:t>
            </a:r>
          </a:p>
          <a:p>
            <a:r>
              <a:rPr lang="en-US" sz="1200" b="1" kern="1200" dirty="0" smtClean="0">
                <a:solidFill>
                  <a:schemeClr val="tx1"/>
                </a:solidFill>
                <a:effectLst/>
                <a:latin typeface="+mn-lt"/>
                <a:ea typeface="+mn-ea"/>
                <a:cs typeface="+mn-cs"/>
              </a:rPr>
              <a:t>Employees without salary and NULL departments were removed, while undisclosed gender entries were grouped to maintain data integrity.</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4</a:t>
            </a:fld>
            <a:endParaRPr lang="en-US"/>
          </a:p>
        </p:txBody>
      </p:sp>
    </p:spTree>
    <p:extLst>
      <p:ext uri="{BB962C8B-B14F-4D97-AF65-F5344CB8AC3E}">
        <p14:creationId xmlns:p14="http://schemas.microsoft.com/office/powerpoint/2010/main" val="1964435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mn-lt"/>
                <a:ea typeface="+mn-ea"/>
                <a:cs typeface="+mn-cs"/>
              </a:rPr>
              <a:t>"Here we see a gender distribution across the regions and departments in Palmoria. While there are more male employees overall, some departments have a healthier gender balance, such as Abuja. However, departments like Engineering and Product Management show a notable gender imbalance, with more males than females."</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5</a:t>
            </a:fld>
            <a:endParaRPr lang="en-US"/>
          </a:p>
        </p:txBody>
      </p:sp>
    </p:spTree>
    <p:extLst>
      <p:ext uri="{BB962C8B-B14F-4D97-AF65-F5344CB8AC3E}">
        <p14:creationId xmlns:p14="http://schemas.microsoft.com/office/powerpoint/2010/main" val="2348032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The</a:t>
            </a:r>
            <a:r>
              <a:rPr lang="en-US" sz="1200" b="1" kern="1200" baseline="0" dirty="0" smtClean="0">
                <a:solidFill>
                  <a:schemeClr val="tx1"/>
                </a:solidFill>
                <a:effectLst/>
                <a:latin typeface="+mn-lt"/>
                <a:ea typeface="+mn-ea"/>
                <a:cs typeface="+mn-cs"/>
              </a:rPr>
              <a:t> displayed charts </a:t>
            </a:r>
            <a:r>
              <a:rPr lang="en-US" sz="1200" b="1" kern="1200" dirty="0" smtClean="0">
                <a:solidFill>
                  <a:schemeClr val="tx1"/>
                </a:solidFill>
                <a:effectLst/>
                <a:latin typeface="+mn-lt"/>
                <a:ea typeface="+mn-ea"/>
                <a:cs typeface="+mn-cs"/>
              </a:rPr>
              <a:t>provides a demographic overview of </a:t>
            </a:r>
            <a:r>
              <a:rPr lang="en-US" sz="1200" b="1" kern="1200" dirty="0" err="1" smtClean="0">
                <a:solidFill>
                  <a:schemeClr val="tx1"/>
                </a:solidFill>
                <a:effectLst/>
                <a:latin typeface="+mn-lt"/>
                <a:ea typeface="+mn-ea"/>
                <a:cs typeface="+mn-cs"/>
              </a:rPr>
              <a:t>Palmoria's</a:t>
            </a:r>
            <a:r>
              <a:rPr lang="en-US" sz="1200" b="1" kern="1200" dirty="0" smtClean="0">
                <a:solidFill>
                  <a:schemeClr val="tx1"/>
                </a:solidFill>
                <a:effectLst/>
                <a:latin typeface="+mn-lt"/>
                <a:ea typeface="+mn-ea"/>
                <a:cs typeface="+mn-cs"/>
              </a:rPr>
              <a:t> 763,876-employee workforce.</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 Overall Gender Distribution: The company is nearly balanced but has a slight male majority (375,820 Male, 49.2%) compared to female employees (354,844 Female, 46.5%). A notable 4.3% (33,212 employees) have undisclosed gender data.</a:t>
            </a:r>
          </a:p>
          <a:p>
            <a:r>
              <a:rPr lang="en-US" sz="1200" b="1" kern="1200" dirty="0" smtClean="0">
                <a:solidFill>
                  <a:schemeClr val="tx1"/>
                </a:solidFill>
                <a:effectLst/>
                <a:latin typeface="+mn-lt"/>
                <a:ea typeface="+mn-ea"/>
                <a:cs typeface="+mn-cs"/>
              </a:rPr>
              <a:t>· Departmental Breakdown: Significant gender segregation exists:</a:t>
            </a:r>
          </a:p>
          <a:p>
            <a:r>
              <a:rPr lang="en-US" sz="1200" b="1" kern="1200" dirty="0" smtClean="0">
                <a:solidFill>
                  <a:schemeClr val="tx1"/>
                </a:solidFill>
                <a:effectLst/>
                <a:latin typeface="+mn-lt"/>
                <a:ea typeface="+mn-ea"/>
                <a:cs typeface="+mn-cs"/>
              </a:rPr>
              <a:t>  · Legal is the most male-dominated department (55% Male).</a:t>
            </a:r>
          </a:p>
          <a:p>
            <a:r>
              <a:rPr lang="en-US" sz="1200" b="1" kern="1200" dirty="0" smtClean="0">
                <a:solidFill>
                  <a:schemeClr val="tx1"/>
                </a:solidFill>
                <a:effectLst/>
                <a:latin typeface="+mn-lt"/>
                <a:ea typeface="+mn-ea"/>
                <a:cs typeface="+mn-cs"/>
              </a:rPr>
              <a:t>  · Engineering, while showing a near-balanced primary split (46.7% Male, 46.6% Female inferred), has the highest rate of undisclosed gender at 6.7%, signaling potential data or inclusivity issues.</a:t>
            </a:r>
          </a:p>
          <a:p>
            <a:r>
              <a:rPr lang="en-US" sz="1200" b="1" kern="1200" dirty="0" smtClean="0">
                <a:solidFill>
                  <a:schemeClr val="tx1"/>
                </a:solidFill>
                <a:effectLst/>
                <a:latin typeface="+mn-lt"/>
                <a:ea typeface="+mn-ea"/>
                <a:cs typeface="+mn-cs"/>
              </a:rPr>
              <a:t>  · Human Resources is female-dominated (50.7% Female).</a:t>
            </a:r>
          </a:p>
          <a:p>
            <a:r>
              <a:rPr lang="en-US" sz="1200" b="1" kern="1200" dirty="0" smtClean="0">
                <a:solidFill>
                  <a:schemeClr val="tx1"/>
                </a:solidFill>
                <a:effectLst/>
                <a:latin typeface="+mn-lt"/>
                <a:ea typeface="+mn-ea"/>
                <a:cs typeface="+mn-cs"/>
              </a:rPr>
              <a:t>  · Marketing is the most balanced (49.2% Male, 49.2% Female).</a:t>
            </a:r>
          </a:p>
          <a:p>
            <a:r>
              <a:rPr lang="en-US" sz="1200" b="1" kern="1200" dirty="0" smtClean="0">
                <a:solidFill>
                  <a:schemeClr val="tx1"/>
                </a:solidFill>
                <a:effectLst/>
                <a:latin typeface="+mn-lt"/>
                <a:ea typeface="+mn-ea"/>
                <a:cs typeface="+mn-cs"/>
              </a:rPr>
              <a:t>· Geographic Analysis: Departments are unevenly distributed: Kaduna (151 </a:t>
            </a:r>
            <a:r>
              <a:rPr lang="en-US" sz="1200" b="1" kern="1200" dirty="0" err="1" smtClean="0">
                <a:solidFill>
                  <a:schemeClr val="tx1"/>
                </a:solidFill>
                <a:effectLst/>
                <a:latin typeface="+mn-lt"/>
                <a:ea typeface="+mn-ea"/>
                <a:cs typeface="+mn-cs"/>
              </a:rPr>
              <a:t>depts</a:t>
            </a:r>
            <a:r>
              <a:rPr lang="en-US" sz="1200" b="1" kern="1200" dirty="0" smtClean="0">
                <a:solidFill>
                  <a:schemeClr val="tx1"/>
                </a:solidFill>
                <a:effectLst/>
                <a:latin typeface="+mn-lt"/>
                <a:ea typeface="+mn-ea"/>
                <a:cs typeface="+mn-cs"/>
              </a:rPr>
              <a:t>), Abuja (144 </a:t>
            </a:r>
            <a:r>
              <a:rPr lang="en-US" sz="1200" b="1" kern="1200" dirty="0" err="1" smtClean="0">
                <a:solidFill>
                  <a:schemeClr val="tx1"/>
                </a:solidFill>
                <a:effectLst/>
                <a:latin typeface="+mn-lt"/>
                <a:ea typeface="+mn-ea"/>
                <a:cs typeface="+mn-cs"/>
              </a:rPr>
              <a:t>depts</a:t>
            </a:r>
            <a:r>
              <a:rPr lang="en-US" sz="1200" b="1" kern="1200" dirty="0" smtClean="0">
                <a:solidFill>
                  <a:schemeClr val="tx1"/>
                </a:solidFill>
                <a:effectLst/>
                <a:latin typeface="+mn-lt"/>
                <a:ea typeface="+mn-ea"/>
                <a:cs typeface="+mn-cs"/>
              </a:rPr>
              <a:t>), Lagos (111 </a:t>
            </a:r>
            <a:r>
              <a:rPr lang="en-US" sz="1200" b="1" kern="1200" dirty="0" err="1" smtClean="0">
                <a:solidFill>
                  <a:schemeClr val="tx1"/>
                </a:solidFill>
                <a:effectLst/>
                <a:latin typeface="+mn-lt"/>
                <a:ea typeface="+mn-ea"/>
                <a:cs typeface="+mn-cs"/>
              </a:rPr>
              <a:t>depts</a:t>
            </a:r>
            <a:r>
              <a:rPr lang="en-US" sz="1200" b="1" kern="1200" dirty="0" smtClean="0">
                <a:solidFill>
                  <a:schemeClr val="tx1"/>
                </a:solidFill>
                <a:effectLst/>
                <a:latin typeface="+mn-lt"/>
                <a:ea typeface="+mn-ea"/>
                <a:cs typeface="+mn-cs"/>
              </a:rPr>
              <a:t>). Without location-specific gender data, regional imbalances in male-heavy departments like Engineering are a risk.</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NOTE:</a:t>
            </a:r>
            <a:r>
              <a:rPr lang="en-US" sz="1200" b="1" kern="1200" baseline="0" dirty="0" smtClean="0">
                <a:solidFill>
                  <a:schemeClr val="tx1"/>
                </a:solidFill>
                <a:effectLst/>
                <a:latin typeface="+mn-lt"/>
                <a:ea typeface="+mn-ea"/>
                <a:cs typeface="+mn-cs"/>
              </a:rPr>
              <a:t> </a:t>
            </a:r>
            <a:r>
              <a:rPr lang="en-US" sz="1200" b="1" kern="1200" dirty="0" smtClean="0">
                <a:solidFill>
                  <a:schemeClr val="tx1"/>
                </a:solidFill>
                <a:effectLst/>
                <a:latin typeface="+mn-lt"/>
                <a:ea typeface="+mn-ea"/>
                <a:cs typeface="+mn-cs"/>
              </a:rPr>
              <a:t>Highlights that surface-level balance masks deep departmental inequities. The high "Undisclosed" rate in Engineering is a red flag. Recommends regional gender audits, targeted recruitment in male-dominated units, and improved gender data collection to address these foundational disparities.</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6</a:t>
            </a:fld>
            <a:endParaRPr lang="en-US"/>
          </a:p>
        </p:txBody>
      </p:sp>
    </p:spTree>
    <p:extLst>
      <p:ext uri="{BB962C8B-B14F-4D97-AF65-F5344CB8AC3E}">
        <p14:creationId xmlns:p14="http://schemas.microsoft.com/office/powerpoint/2010/main" val="2213344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visualization compares employee performance ratings by gender.</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7</a:t>
            </a:fld>
            <a:endParaRPr lang="en-US"/>
          </a:p>
        </p:txBody>
      </p:sp>
    </p:spTree>
    <p:extLst>
      <p:ext uri="{BB962C8B-B14F-4D97-AF65-F5344CB8AC3E}">
        <p14:creationId xmlns:p14="http://schemas.microsoft.com/office/powerpoint/2010/main" val="2784550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"This chart illustrates the distribution of employee ratings by gender. The majority of employees, regardless of gender, are rated as Average. However, males tend to score better ratings in categories like Good and Very Good, while females show fewer instances of Poor or Very Poor ratings."</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8</a:t>
            </a:fld>
            <a:endParaRPr lang="en-US"/>
          </a:p>
        </p:txBody>
      </p:sp>
    </p:spTree>
    <p:extLst>
      <p:ext uri="{BB962C8B-B14F-4D97-AF65-F5344CB8AC3E}">
        <p14:creationId xmlns:p14="http://schemas.microsoft.com/office/powerpoint/2010/main" val="3937215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Here, we analyzed average salaries by gender across departments and regions.</a:t>
            </a:r>
          </a:p>
          <a:p>
            <a:r>
              <a:rPr lang="en-US" sz="1200" b="1" kern="1200" dirty="0" smtClean="0">
                <a:solidFill>
                  <a:schemeClr val="tx1"/>
                </a:solidFill>
                <a:effectLst/>
                <a:latin typeface="+mn-lt"/>
                <a:ea typeface="+mn-ea"/>
                <a:cs typeface="+mn-cs"/>
              </a:rPr>
              <a:t>The results confirm the existence of a gender pay gap, especially in specific departments and regions that require management attention. </a:t>
            </a: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4A0E7F0-4D99-4E04-A600-6A31C5CE255F}" type="slidenum">
              <a:rPr lang="en-US" smtClean="0"/>
              <a:t>9</a:t>
            </a:fld>
            <a:endParaRPr lang="en-US"/>
          </a:p>
        </p:txBody>
      </p:sp>
    </p:spTree>
    <p:extLst>
      <p:ext uri="{BB962C8B-B14F-4D97-AF65-F5344CB8AC3E}">
        <p14:creationId xmlns:p14="http://schemas.microsoft.com/office/powerpoint/2010/main" val="2842803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A0E7F0-4D99-4E04-A600-6A31C5CE255F}" type="slidenum">
              <a:rPr lang="en-US" smtClean="0"/>
              <a:t>10</a:t>
            </a:fld>
            <a:endParaRPr lang="en-US"/>
          </a:p>
        </p:txBody>
      </p:sp>
    </p:spTree>
    <p:extLst>
      <p:ext uri="{BB962C8B-B14F-4D97-AF65-F5344CB8AC3E}">
        <p14:creationId xmlns:p14="http://schemas.microsoft.com/office/powerpoint/2010/main" val="50585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As we review our compliance with the new $90,000 minimum salary regulation, nearly one-third of our workforce—specifically 240 employees, or 31.5%—currently earn below this threshold. This means we are not yet fully compliant.”</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Key Breakdown:</a:t>
            </a:r>
          </a:p>
          <a:p>
            <a:r>
              <a:rPr lang="en-US" sz="1200" b="1" kern="1200" dirty="0" smtClean="0">
                <a:solidFill>
                  <a:schemeClr val="tx1"/>
                </a:solidFill>
                <a:effectLst/>
                <a:latin typeface="+mn-lt"/>
                <a:ea typeface="+mn-ea"/>
                <a:cs typeface="+mn-cs"/>
              </a:rPr>
              <a:t>“Looking closer, only about 68% of employees meet or exceed the required wage level. The $70,000–$79,999 band is our largest group of employees, and it sits just below the compliance line.”</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Geographic Focus:</a:t>
            </a:r>
          </a:p>
          <a:p>
            <a:r>
              <a:rPr lang="en-US" sz="1200" b="1" kern="1200" dirty="0" smtClean="0">
                <a:solidFill>
                  <a:schemeClr val="tx1"/>
                </a:solidFill>
                <a:effectLst/>
                <a:latin typeface="+mn-lt"/>
                <a:ea typeface="+mn-ea"/>
                <a:cs typeface="+mn-cs"/>
              </a:rPr>
              <a:t>“Our biggest challenges are concentrated in two locations: Kaduna and Abuja. These regions have the highest number of employees in lower salary bands.”</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Risk Highlight:</a:t>
            </a:r>
          </a:p>
          <a:p>
            <a:r>
              <a:rPr lang="en-US" sz="1200" b="1" kern="1200" dirty="0" smtClean="0">
                <a:solidFill>
                  <a:schemeClr val="tx1"/>
                </a:solidFill>
                <a:effectLst/>
                <a:latin typeface="+mn-lt"/>
                <a:ea typeface="+mn-ea"/>
                <a:cs typeface="+mn-cs"/>
              </a:rPr>
              <a:t>“Kaduna, in particular, represents our greatest compliance risk due to the volume of staff in these lower pay ranges.”</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Closing Tone:</a:t>
            </a:r>
          </a:p>
          <a:p>
            <a:r>
              <a:rPr lang="en-US" sz="1200" b="1" kern="1200" dirty="0" smtClean="0">
                <a:solidFill>
                  <a:schemeClr val="tx1"/>
                </a:solidFill>
                <a:effectLst/>
                <a:latin typeface="+mn-lt"/>
                <a:ea typeface="+mn-ea"/>
                <a:cs typeface="+mn-cs"/>
              </a:rPr>
              <a:t>“Addressing these gaps will be essential to meet regulatory requirements and support fair compensation across our workforce</a:t>
            </a:r>
            <a:r>
              <a:rPr lang="en-US" sz="1200" b="1" kern="1200" dirty="0" smtClean="0">
                <a:solidFill>
                  <a:schemeClr val="tx1"/>
                </a:solidFill>
                <a:effectLst/>
                <a:latin typeface="+mn-lt"/>
                <a:ea typeface="+mn-ea"/>
                <a:cs typeface="+mn-cs"/>
              </a:rPr>
              <a:t>.”</a:t>
            </a:r>
          </a:p>
          <a:p>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 Recommendations: Immediately adjust wages for non-compliant employees, conduct a gender audit within low-wage bands, and review regional salary policies.</a:t>
            </a:r>
          </a:p>
          <a:p>
            <a:r>
              <a:rPr lang="en-US" sz="1200" b="1" kern="1200" dirty="0" smtClean="0">
                <a:solidFill>
                  <a:schemeClr val="tx1"/>
                </a:solidFill>
                <a:effectLst/>
                <a:latin typeface="+mn-lt"/>
                <a:ea typeface="+mn-ea"/>
                <a:cs typeface="+mn-cs"/>
              </a:rPr>
              <a:t> </a:t>
            </a:r>
          </a:p>
          <a:p>
            <a:endParaRPr lang="en-US" sz="1200" b="1" kern="1200" dirty="0" smtClean="0">
              <a:solidFill>
                <a:schemeClr val="tx1"/>
              </a:solidFill>
              <a:effectLst/>
              <a:latin typeface="+mn-lt"/>
              <a:ea typeface="+mn-ea"/>
              <a:cs typeface="+mn-cs"/>
            </a:endParaRP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11</a:t>
            </a:fld>
            <a:endParaRPr lang="en-US"/>
          </a:p>
        </p:txBody>
      </p:sp>
    </p:spTree>
    <p:extLst>
      <p:ext uri="{BB962C8B-B14F-4D97-AF65-F5344CB8AC3E}">
        <p14:creationId xmlns:p14="http://schemas.microsoft.com/office/powerpoint/2010/main" val="2238443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slide breaks salaries into $10,000 bands to better understand pay distribution.</a:t>
            </a:r>
          </a:p>
          <a:p>
            <a:r>
              <a:rPr lang="en-US" sz="1200" b="1" kern="1200" dirty="0" smtClean="0">
                <a:solidFill>
                  <a:schemeClr val="tx1"/>
                </a:solidFill>
                <a:effectLst/>
                <a:latin typeface="+mn-lt"/>
                <a:ea typeface="+mn-ea"/>
                <a:cs typeface="+mn-cs"/>
              </a:rPr>
              <a:t>It highlights regions with higher concentration of low-paid employees.</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12</a:t>
            </a:fld>
            <a:endParaRPr lang="en-US"/>
          </a:p>
        </p:txBody>
      </p:sp>
    </p:spTree>
    <p:extLst>
      <p:ext uri="{BB962C8B-B14F-4D97-AF65-F5344CB8AC3E}">
        <p14:creationId xmlns:p14="http://schemas.microsoft.com/office/powerpoint/2010/main" val="2216386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slide presents the outcome of the bonus allocation exercise as required in the Palmoria Group case study.</a:t>
            </a:r>
          </a:p>
          <a:p>
            <a:r>
              <a:rPr lang="en-US" sz="1200" b="1" kern="1200" dirty="0" smtClean="0">
                <a:solidFill>
                  <a:schemeClr val="tx1"/>
                </a:solidFill>
                <a:effectLst/>
                <a:latin typeface="+mn-lt"/>
                <a:ea typeface="+mn-ea"/>
                <a:cs typeface="+mn-cs"/>
              </a:rPr>
              <a:t>From the analysis, the total company payroll stands at $58.17billion, while total bonuses paid amount to $1.78B, showing that bonuses form a significant part of employee compensation.</a:t>
            </a:r>
          </a:p>
          <a:p>
            <a:r>
              <a:rPr lang="en-US" sz="1200" b="1" kern="1200" dirty="0" smtClean="0">
                <a:solidFill>
                  <a:schemeClr val="tx1"/>
                </a:solidFill>
                <a:effectLst/>
                <a:latin typeface="+mn-lt"/>
                <a:ea typeface="+mn-ea"/>
                <a:cs typeface="+mn-cs"/>
              </a:rPr>
              <a:t>Looking at bonus distribution by location, Kaduna leads with $684.51 million, followed closely by Abuja at $617.48 million, while Lagos records the lowest bonus payout of $472.27 million. This suggests that employee concentration and salary levels differ across regions.</a:t>
            </a:r>
          </a:p>
          <a:p>
            <a:r>
              <a:rPr lang="en-US" sz="1200" b="1" kern="1200" dirty="0" smtClean="0">
                <a:solidFill>
                  <a:schemeClr val="tx1"/>
                </a:solidFill>
                <a:effectLst/>
                <a:latin typeface="+mn-lt"/>
                <a:ea typeface="+mn-ea"/>
                <a:cs typeface="+mn-cs"/>
              </a:rPr>
              <a:t>All employees in the table segment shown received bonuses based on their performance ratings, with the majority rated as Average. Despite similar ratings, total bonus amounts vary, confirming that salary level and regional workforce size influence final bonus payouts.</a:t>
            </a:r>
          </a:p>
          <a:p>
            <a:r>
              <a:rPr lang="en-US" sz="1200" b="1" kern="1200" dirty="0" smtClean="0">
                <a:solidFill>
                  <a:schemeClr val="tx1"/>
                </a:solidFill>
                <a:effectLst/>
                <a:latin typeface="+mn-lt"/>
                <a:ea typeface="+mn-ea"/>
                <a:cs typeface="+mn-cs"/>
              </a:rPr>
              <a:t>Overall, this analysis confirms that Palmoria applies performance-based bonus rules correctly, but it also highlights the importance of reviewing regional pay structures to ensure fairness, transparency, and alignment with management’s gender equity and compensation goals.</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13</a:t>
            </a:fld>
            <a:endParaRPr lang="en-US"/>
          </a:p>
        </p:txBody>
      </p:sp>
    </p:spTree>
    <p:extLst>
      <p:ext uri="{BB962C8B-B14F-4D97-AF65-F5344CB8AC3E}">
        <p14:creationId xmlns:p14="http://schemas.microsoft.com/office/powerpoint/2010/main" val="468484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slide presents the outcome of the bonus allocation exercise as required in the Palmoria Group case study.</a:t>
            </a:r>
          </a:p>
          <a:p>
            <a:r>
              <a:rPr lang="en-US" sz="1200" b="1" kern="1200" dirty="0" smtClean="0">
                <a:solidFill>
                  <a:schemeClr val="tx1"/>
                </a:solidFill>
                <a:effectLst/>
                <a:latin typeface="+mn-lt"/>
                <a:ea typeface="+mn-ea"/>
                <a:cs typeface="+mn-cs"/>
              </a:rPr>
              <a:t>From the analysis, the total company payroll stands at $58.17billion, while total bonuses paid amount to $1.78B, showing that bonuses form a significant part of employee compensation.</a:t>
            </a:r>
          </a:p>
          <a:p>
            <a:r>
              <a:rPr lang="en-US" sz="1200" b="1" kern="1200" dirty="0" smtClean="0">
                <a:solidFill>
                  <a:schemeClr val="tx1"/>
                </a:solidFill>
                <a:effectLst/>
                <a:latin typeface="+mn-lt"/>
                <a:ea typeface="+mn-ea"/>
                <a:cs typeface="+mn-cs"/>
              </a:rPr>
              <a:t>Looking at bonus distribution by location, Kaduna leads with $684.51 million, followed closely by Abuja at $617.48 million, while Lagos records the lowest bonus payout of $472.27 million. This suggests that employee concentration and salary levels differ across regions.</a:t>
            </a:r>
          </a:p>
          <a:p>
            <a:r>
              <a:rPr lang="en-US" sz="1200" b="1" kern="1200" dirty="0" smtClean="0">
                <a:solidFill>
                  <a:schemeClr val="tx1"/>
                </a:solidFill>
                <a:effectLst/>
                <a:latin typeface="+mn-lt"/>
                <a:ea typeface="+mn-ea"/>
                <a:cs typeface="+mn-cs"/>
              </a:rPr>
              <a:t>All employees in the table segment shown received bonuses based on their performance ratings, with the majority rated as Average. Despite similar ratings, total bonus amounts vary, confirming that salary level and regional workforce size influence final bonus payouts.</a:t>
            </a:r>
          </a:p>
          <a:p>
            <a:r>
              <a:rPr lang="en-US" sz="1200" b="1" kern="1200" dirty="0" smtClean="0">
                <a:solidFill>
                  <a:schemeClr val="tx1"/>
                </a:solidFill>
                <a:effectLst/>
                <a:latin typeface="+mn-lt"/>
                <a:ea typeface="+mn-ea"/>
                <a:cs typeface="+mn-cs"/>
              </a:rPr>
              <a:t>Overall, this analysis confirms that Palmoria applies performance-based bonus rules correctly, but it also highlights the importance of reviewing regional pay structures to ensure fairness, transparency, and alignment with management’s gender equity and compensation goals.</a:t>
            </a:r>
          </a:p>
          <a:p>
            <a:endParaRPr lang="en-US" b="1" dirty="0" smtClean="0"/>
          </a:p>
          <a:p>
            <a:r>
              <a:rPr lang="en-US" sz="1200" b="1" kern="1200" dirty="0" smtClean="0">
                <a:solidFill>
                  <a:schemeClr val="tx1"/>
                </a:solidFill>
                <a:effectLst/>
                <a:latin typeface="+mn-lt"/>
                <a:ea typeface="+mn-ea"/>
                <a:cs typeface="+mn-cs"/>
              </a:rPr>
              <a:t>This slide presents the outcome of the bonus allocation exercise as required in the Palmoria Group case study.</a:t>
            </a:r>
          </a:p>
          <a:p>
            <a:r>
              <a:rPr lang="en-US" sz="1200" b="1" kern="1200" dirty="0" smtClean="0">
                <a:solidFill>
                  <a:schemeClr val="tx1"/>
                </a:solidFill>
                <a:effectLst/>
                <a:latin typeface="+mn-lt"/>
                <a:ea typeface="+mn-ea"/>
                <a:cs typeface="+mn-cs"/>
              </a:rPr>
              <a:t>From the analysis, the total company payroll stands at $58.17billion, while total bonuses paid amount to $1.78B, showing that bonuses form a significant part of employee compensation.</a:t>
            </a:r>
          </a:p>
          <a:p>
            <a:r>
              <a:rPr lang="en-US" sz="1200" b="1" kern="1200" dirty="0" smtClean="0">
                <a:solidFill>
                  <a:schemeClr val="tx1"/>
                </a:solidFill>
                <a:effectLst/>
                <a:latin typeface="+mn-lt"/>
                <a:ea typeface="+mn-ea"/>
                <a:cs typeface="+mn-cs"/>
              </a:rPr>
              <a:t>Looking at bonus distribution by location, Kaduna leads with $684.51 million, followed closely by Abuja at $617.48 million, while Lagos records the lowest bonus payout of $472.27 million. This suggests that employee concentration and salary levels differ across regions.</a:t>
            </a:r>
          </a:p>
          <a:p>
            <a:r>
              <a:rPr lang="en-US" sz="1200" b="1" kern="1200" dirty="0" smtClean="0">
                <a:solidFill>
                  <a:schemeClr val="tx1"/>
                </a:solidFill>
                <a:effectLst/>
                <a:latin typeface="+mn-lt"/>
                <a:ea typeface="+mn-ea"/>
                <a:cs typeface="+mn-cs"/>
              </a:rPr>
              <a:t>All employees in the table segment shown received bonuses based on their performance ratings, with the majority rated as Average. Despite similar ratings, total bonus amounts vary, confirming that salary level and regional workforce size influence final bonus payouts.</a:t>
            </a:r>
          </a:p>
          <a:p>
            <a:r>
              <a:rPr lang="en-US" sz="1200" b="1" kern="1200" dirty="0" smtClean="0">
                <a:solidFill>
                  <a:schemeClr val="tx1"/>
                </a:solidFill>
                <a:effectLst/>
                <a:latin typeface="+mn-lt"/>
                <a:ea typeface="+mn-ea"/>
                <a:cs typeface="+mn-cs"/>
              </a:rPr>
              <a:t>Overall, this analysis confirms that Palmoria applies performance-based bonus rules correctly, but it also highlights the importance of reviewing regional pay structures to ensure fairness, transparency, and alignment with management’s gender equity and compensation goals.</a:t>
            </a:r>
          </a:p>
          <a:p>
            <a:endParaRPr lang="en-US" b="1" dirty="0" smtClean="0"/>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14</a:t>
            </a:fld>
            <a:endParaRPr lang="en-US"/>
          </a:p>
        </p:txBody>
      </p:sp>
    </p:spTree>
    <p:extLst>
      <p:ext uri="{BB962C8B-B14F-4D97-AF65-F5344CB8AC3E}">
        <p14:creationId xmlns:p14="http://schemas.microsoft.com/office/powerpoint/2010/main" val="1377810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mn-lt"/>
                <a:ea typeface="+mn-ea"/>
                <a:cs typeface="+mn-cs"/>
              </a:rPr>
              <a:t>This HR analytics dashboard was developed to assess gender equality, pay structure, regulatory compliance, and bonus allocation across Palmoria Group’s three regions — Kaduna, Abuja, and Lagos — in line with the case objectives.”</a:t>
            </a:r>
          </a:p>
          <a:p>
            <a:endParaRPr lang="en-US" b="1" dirty="0" smtClean="0"/>
          </a:p>
          <a:p>
            <a:r>
              <a:rPr lang="en-US" sz="1200" b="1" kern="1200" dirty="0" smtClean="0">
                <a:solidFill>
                  <a:schemeClr val="tx1"/>
                </a:solidFill>
                <a:effectLst/>
                <a:latin typeface="+mn-lt"/>
                <a:ea typeface="+mn-ea"/>
                <a:cs typeface="+mn-cs"/>
              </a:rPr>
              <a:t>1. Key Insights from the Dashboard (What the Data Says)</a:t>
            </a:r>
          </a:p>
          <a:p>
            <a:r>
              <a:rPr lang="en-US" sz="1200" b="1" kern="1200" dirty="0" smtClean="0">
                <a:solidFill>
                  <a:schemeClr val="tx1"/>
                </a:solidFill>
                <a:effectLst/>
                <a:latin typeface="+mn-lt"/>
                <a:ea typeface="+mn-ea"/>
                <a:cs typeface="+mn-cs"/>
              </a:rPr>
              <a:t>Workforce &amp; Gender Distribution</a:t>
            </a:r>
          </a:p>
          <a:p>
            <a:r>
              <a:rPr lang="en-US" sz="1200" b="1" kern="1200" dirty="0" smtClean="0">
                <a:solidFill>
                  <a:schemeClr val="tx1"/>
                </a:solidFill>
                <a:effectLst/>
                <a:latin typeface="+mn-lt"/>
                <a:ea typeface="+mn-ea"/>
                <a:cs typeface="+mn-cs"/>
              </a:rPr>
              <a:t>Palmoria has 763,876 employees</a:t>
            </a:r>
          </a:p>
          <a:p>
            <a:r>
              <a:rPr lang="en-US" sz="1200" b="1" kern="1200" dirty="0" smtClean="0">
                <a:solidFill>
                  <a:schemeClr val="tx1"/>
                </a:solidFill>
                <a:effectLst/>
                <a:latin typeface="+mn-lt"/>
                <a:ea typeface="+mn-ea"/>
                <a:cs typeface="+mn-cs"/>
              </a:rPr>
              <a:t>Workforce is male-dominated (~49%), with females at ~46% and 4% undisclosed</a:t>
            </a:r>
          </a:p>
          <a:p>
            <a:r>
              <a:rPr lang="en-US" sz="1200" b="1" kern="1200" dirty="0" smtClean="0">
                <a:solidFill>
                  <a:schemeClr val="tx1"/>
                </a:solidFill>
                <a:effectLst/>
                <a:latin typeface="+mn-lt"/>
                <a:ea typeface="+mn-ea"/>
                <a:cs typeface="+mn-cs"/>
              </a:rPr>
              <a:t>Gender imbalance persists across regions and departments, especially in technical roles</a:t>
            </a:r>
          </a:p>
          <a:p>
            <a:r>
              <a:rPr lang="en-US" sz="1200" b="1" kern="1200" dirty="0" smtClean="0">
                <a:solidFill>
                  <a:schemeClr val="tx1"/>
                </a:solidFill>
                <a:effectLst/>
                <a:latin typeface="+mn-lt"/>
                <a:ea typeface="+mn-ea"/>
                <a:cs typeface="+mn-cs"/>
              </a:rPr>
              <a:t>Defense Point:</a:t>
            </a:r>
          </a:p>
          <a:p>
            <a:r>
              <a:rPr lang="en-US" sz="1200" b="1" kern="1200" dirty="0" smtClean="0">
                <a:solidFill>
                  <a:schemeClr val="tx1"/>
                </a:solidFill>
                <a:effectLst/>
                <a:latin typeface="+mn-lt"/>
                <a:ea typeface="+mn-ea"/>
                <a:cs typeface="+mn-cs"/>
              </a:rPr>
              <a:t>Although gender representation appears close numerically, distribution across departments and pay outcomes reveals inequality.</a:t>
            </a:r>
          </a:p>
          <a:p>
            <a:r>
              <a:rPr lang="en-US" sz="1200" b="1" kern="1200" dirty="0" smtClean="0">
                <a:solidFill>
                  <a:schemeClr val="tx1"/>
                </a:solidFill>
                <a:effectLst/>
                <a:latin typeface="+mn-lt"/>
                <a:ea typeface="+mn-ea"/>
                <a:cs typeface="+mn-cs"/>
              </a:rPr>
              <a:t>Performance Ratings</a:t>
            </a:r>
          </a:p>
          <a:p>
            <a:r>
              <a:rPr lang="en-US" sz="1200" b="1" kern="1200" dirty="0" smtClean="0">
                <a:solidFill>
                  <a:schemeClr val="tx1"/>
                </a:solidFill>
                <a:effectLst/>
                <a:latin typeface="+mn-lt"/>
                <a:ea typeface="+mn-ea"/>
                <a:cs typeface="+mn-cs"/>
              </a:rPr>
              <a:t>Majority of employees fall under Average and Good ratings</a:t>
            </a:r>
          </a:p>
          <a:p>
            <a:r>
              <a:rPr lang="en-US" sz="1200" b="1" kern="1200" dirty="0" smtClean="0">
                <a:solidFill>
                  <a:schemeClr val="tx1"/>
                </a:solidFill>
                <a:effectLst/>
                <a:latin typeface="+mn-lt"/>
                <a:ea typeface="+mn-ea"/>
                <a:cs typeface="+mn-cs"/>
              </a:rPr>
              <a:t>Male employees dominate higher ratings</a:t>
            </a:r>
          </a:p>
          <a:p>
            <a:r>
              <a:rPr lang="en-US" sz="1200" b="1" kern="1200" dirty="0" smtClean="0">
                <a:solidFill>
                  <a:schemeClr val="tx1"/>
                </a:solidFill>
                <a:effectLst/>
                <a:latin typeface="+mn-lt"/>
                <a:ea typeface="+mn-ea"/>
                <a:cs typeface="+mn-cs"/>
              </a:rPr>
              <a:t>Female employees cluster more around Average ratings</a:t>
            </a:r>
          </a:p>
          <a:p>
            <a:r>
              <a:rPr lang="en-US" sz="1200" b="1" kern="1200" dirty="0" smtClean="0">
                <a:solidFill>
                  <a:schemeClr val="tx1"/>
                </a:solidFill>
                <a:effectLst/>
                <a:latin typeface="+mn-lt"/>
                <a:ea typeface="+mn-ea"/>
                <a:cs typeface="+mn-cs"/>
              </a:rPr>
              <a:t>Defense Point:</a:t>
            </a:r>
          </a:p>
          <a:p>
            <a:r>
              <a:rPr lang="en-US" sz="1200" b="1" kern="1200" dirty="0" smtClean="0">
                <a:solidFill>
                  <a:schemeClr val="tx1"/>
                </a:solidFill>
                <a:effectLst/>
                <a:latin typeface="+mn-lt"/>
                <a:ea typeface="+mn-ea"/>
                <a:cs typeface="+mn-cs"/>
              </a:rPr>
              <a:t>Since bonuses are rating-based, even slight rating imbalances translate into income inequality.</a:t>
            </a:r>
          </a:p>
          <a:p>
            <a:r>
              <a:rPr lang="en-US" sz="1200" b="1" kern="1200" dirty="0" smtClean="0">
                <a:solidFill>
                  <a:schemeClr val="tx1"/>
                </a:solidFill>
                <a:effectLst/>
                <a:latin typeface="+mn-lt"/>
                <a:ea typeface="+mn-ea"/>
                <a:cs typeface="+mn-cs"/>
              </a:rPr>
              <a:t>Salary &amp; Pay Gap</a:t>
            </a:r>
          </a:p>
          <a:p>
            <a:r>
              <a:rPr lang="en-US" sz="1200" b="1" kern="1200" dirty="0" smtClean="0">
                <a:solidFill>
                  <a:schemeClr val="tx1"/>
                </a:solidFill>
                <a:effectLst/>
                <a:latin typeface="+mn-lt"/>
                <a:ea typeface="+mn-ea"/>
                <a:cs typeface="+mn-cs"/>
              </a:rPr>
              <a:t>Males earn higher cumulative salaries than females</a:t>
            </a:r>
          </a:p>
          <a:p>
            <a:r>
              <a:rPr lang="en-US" sz="1200" b="1" kern="1200" dirty="0" smtClean="0">
                <a:solidFill>
                  <a:schemeClr val="tx1"/>
                </a:solidFill>
                <a:effectLst/>
                <a:latin typeface="+mn-lt"/>
                <a:ea typeface="+mn-ea"/>
                <a:cs typeface="+mn-cs"/>
              </a:rPr>
              <a:t>Pay gaps are most visible in:</a:t>
            </a:r>
          </a:p>
          <a:p>
            <a:r>
              <a:rPr lang="en-US" sz="1200" b="1" kern="1200" dirty="0" smtClean="0">
                <a:solidFill>
                  <a:schemeClr val="tx1"/>
                </a:solidFill>
                <a:effectLst/>
                <a:latin typeface="+mn-lt"/>
                <a:ea typeface="+mn-ea"/>
                <a:cs typeface="+mn-cs"/>
              </a:rPr>
              <a:t>Engineering</a:t>
            </a:r>
          </a:p>
          <a:p>
            <a:r>
              <a:rPr lang="en-US" sz="1200" b="1" kern="1200" dirty="0" smtClean="0">
                <a:solidFill>
                  <a:schemeClr val="tx1"/>
                </a:solidFill>
                <a:effectLst/>
                <a:latin typeface="+mn-lt"/>
                <a:ea typeface="+mn-ea"/>
                <a:cs typeface="+mn-cs"/>
              </a:rPr>
              <a:t>Legal</a:t>
            </a:r>
          </a:p>
          <a:p>
            <a:r>
              <a:rPr lang="en-US" sz="1200" b="1" kern="1200" dirty="0" smtClean="0">
                <a:solidFill>
                  <a:schemeClr val="tx1"/>
                </a:solidFill>
                <a:effectLst/>
                <a:latin typeface="+mn-lt"/>
                <a:ea typeface="+mn-ea"/>
                <a:cs typeface="+mn-cs"/>
              </a:rPr>
              <a:t>Product Management</a:t>
            </a:r>
          </a:p>
          <a:p>
            <a:r>
              <a:rPr lang="en-US" sz="1200" b="1" kern="1200" dirty="0" smtClean="0">
                <a:solidFill>
                  <a:schemeClr val="tx1"/>
                </a:solidFill>
                <a:effectLst/>
                <a:latin typeface="+mn-lt"/>
                <a:ea typeface="+mn-ea"/>
                <a:cs typeface="+mn-cs"/>
              </a:rPr>
              <a:t>Significant number of employees earn below the $90,000 minimum wage</a:t>
            </a:r>
          </a:p>
          <a:p>
            <a:r>
              <a:rPr lang="en-US" sz="1200" b="1" kern="1200" dirty="0" smtClean="0">
                <a:solidFill>
                  <a:schemeClr val="tx1"/>
                </a:solidFill>
                <a:effectLst/>
                <a:latin typeface="+mn-lt"/>
                <a:ea typeface="+mn-ea"/>
                <a:cs typeface="+mn-cs"/>
              </a:rPr>
              <a:t>Defense Point:</a:t>
            </a:r>
          </a:p>
          <a:p>
            <a:r>
              <a:rPr lang="en-US" sz="1200" b="1" kern="1200" dirty="0" smtClean="0">
                <a:solidFill>
                  <a:schemeClr val="tx1"/>
                </a:solidFill>
                <a:effectLst/>
                <a:latin typeface="+mn-lt"/>
                <a:ea typeface="+mn-ea"/>
                <a:cs typeface="+mn-cs"/>
              </a:rPr>
              <a:t>This confirms both a gender pay gap and regulatory compliance risk.</a:t>
            </a:r>
          </a:p>
          <a:p>
            <a:r>
              <a:rPr lang="en-US" sz="1200" b="1" kern="1200" dirty="0" smtClean="0">
                <a:solidFill>
                  <a:schemeClr val="tx1"/>
                </a:solidFill>
                <a:effectLst/>
                <a:latin typeface="+mn-lt"/>
                <a:ea typeface="+mn-ea"/>
                <a:cs typeface="+mn-cs"/>
              </a:rPr>
              <a:t>Bonus &amp; Payroll</a:t>
            </a:r>
          </a:p>
          <a:p>
            <a:r>
              <a:rPr lang="en-US" sz="1200" b="1" kern="1200" dirty="0" smtClean="0">
                <a:solidFill>
                  <a:schemeClr val="tx1"/>
                </a:solidFill>
                <a:effectLst/>
                <a:latin typeface="+mn-lt"/>
                <a:ea typeface="+mn-ea"/>
                <a:cs typeface="+mn-cs"/>
              </a:rPr>
              <a:t>Total bonus paid: $1.78bn</a:t>
            </a:r>
          </a:p>
          <a:p>
            <a:r>
              <a:rPr lang="en-US" sz="1200" b="1" kern="1200" dirty="0" smtClean="0">
                <a:solidFill>
                  <a:schemeClr val="tx1"/>
                </a:solidFill>
                <a:effectLst/>
                <a:latin typeface="+mn-lt"/>
                <a:ea typeface="+mn-ea"/>
                <a:cs typeface="+mn-cs"/>
              </a:rPr>
              <a:t>Total payroll: $58.17bn</a:t>
            </a:r>
          </a:p>
          <a:p>
            <a:r>
              <a:rPr lang="en-US" sz="1200" b="1" kern="1200" dirty="0" smtClean="0">
                <a:solidFill>
                  <a:schemeClr val="tx1"/>
                </a:solidFill>
                <a:effectLst/>
                <a:latin typeface="+mn-lt"/>
                <a:ea typeface="+mn-ea"/>
                <a:cs typeface="+mn-cs"/>
              </a:rPr>
              <a:t>Kaduna receives the highest bonus allocation</a:t>
            </a:r>
          </a:p>
          <a:p>
            <a:r>
              <a:rPr lang="en-US" sz="1200" b="1" kern="1200" dirty="0" smtClean="0">
                <a:solidFill>
                  <a:schemeClr val="tx1"/>
                </a:solidFill>
                <a:effectLst/>
                <a:latin typeface="+mn-lt"/>
                <a:ea typeface="+mn-ea"/>
                <a:cs typeface="+mn-cs"/>
              </a:rPr>
              <a:t>Lagos receives the lowest, despite cost-of-living pressure</a:t>
            </a:r>
          </a:p>
          <a:p>
            <a:r>
              <a:rPr lang="en-US" sz="1200" b="1" kern="1200" dirty="0" smtClean="0">
                <a:solidFill>
                  <a:schemeClr val="tx1"/>
                </a:solidFill>
                <a:effectLst/>
                <a:latin typeface="+mn-lt"/>
                <a:ea typeface="+mn-ea"/>
                <a:cs typeface="+mn-cs"/>
              </a:rPr>
              <a:t>Defense Point:</a:t>
            </a:r>
          </a:p>
          <a:p>
            <a:r>
              <a:rPr lang="en-US" sz="1200" b="1" kern="1200" dirty="0" smtClean="0">
                <a:solidFill>
                  <a:schemeClr val="tx1"/>
                </a:solidFill>
                <a:effectLst/>
                <a:latin typeface="+mn-lt"/>
                <a:ea typeface="+mn-ea"/>
                <a:cs typeface="+mn-cs"/>
              </a:rPr>
              <a:t>Bonus distribution mirrors ratings and headcount, reinforcing existing inequalities.</a:t>
            </a:r>
          </a:p>
          <a:p>
            <a:r>
              <a:rPr lang="en-US" sz="1200" b="1" kern="1200" dirty="0" smtClean="0">
                <a:solidFill>
                  <a:schemeClr val="tx1"/>
                </a:solidFill>
                <a:effectLst/>
                <a:latin typeface="+mn-lt"/>
                <a:ea typeface="+mn-ea"/>
                <a:cs typeface="+mn-cs"/>
              </a:rPr>
              <a:t>2. Strategic Recommendations (What Management Should Do)</a:t>
            </a:r>
          </a:p>
          <a:p>
            <a:r>
              <a:rPr lang="en-US" sz="1200" b="1" kern="1200" dirty="0" smtClean="0">
                <a:solidFill>
                  <a:schemeClr val="tx1"/>
                </a:solidFill>
                <a:effectLst/>
                <a:latin typeface="+mn-lt"/>
                <a:ea typeface="+mn-ea"/>
                <a:cs typeface="+mn-cs"/>
              </a:rPr>
              <a:t>Gender Equity</a:t>
            </a:r>
          </a:p>
          <a:p>
            <a:r>
              <a:rPr lang="en-US" sz="1200" b="1" kern="1200" dirty="0" smtClean="0">
                <a:solidFill>
                  <a:schemeClr val="tx1"/>
                </a:solidFill>
                <a:effectLst/>
                <a:latin typeface="+mn-lt"/>
                <a:ea typeface="+mn-ea"/>
                <a:cs typeface="+mn-cs"/>
              </a:rPr>
              <a:t>Introduce department-level diversity targets</a:t>
            </a:r>
          </a:p>
          <a:p>
            <a:r>
              <a:rPr lang="en-US" sz="1200" b="1" kern="1200" dirty="0" smtClean="0">
                <a:solidFill>
                  <a:schemeClr val="tx1"/>
                </a:solidFill>
                <a:effectLst/>
                <a:latin typeface="+mn-lt"/>
                <a:ea typeface="+mn-ea"/>
                <a:cs typeface="+mn-cs"/>
              </a:rPr>
              <a:t>Promote female participation in technical and leadership roles</a:t>
            </a:r>
          </a:p>
          <a:p>
            <a:r>
              <a:rPr lang="en-US" sz="1200" b="1" kern="1200" dirty="0" smtClean="0">
                <a:solidFill>
                  <a:schemeClr val="tx1"/>
                </a:solidFill>
                <a:effectLst/>
                <a:latin typeface="+mn-lt"/>
                <a:ea typeface="+mn-ea"/>
                <a:cs typeface="+mn-cs"/>
              </a:rPr>
              <a:t>Pay Equity</a:t>
            </a:r>
          </a:p>
          <a:p>
            <a:r>
              <a:rPr lang="en-US" sz="1200" b="1" kern="1200" dirty="0" smtClean="0">
                <a:solidFill>
                  <a:schemeClr val="tx1"/>
                </a:solidFill>
                <a:effectLst/>
                <a:latin typeface="+mn-lt"/>
                <a:ea typeface="+mn-ea"/>
                <a:cs typeface="+mn-cs"/>
              </a:rPr>
              <a:t>Conduct salary correction exercises in high-gap departments</a:t>
            </a:r>
          </a:p>
          <a:p>
            <a:r>
              <a:rPr lang="en-US" sz="1200" b="1" kern="1200" dirty="0" smtClean="0">
                <a:solidFill>
                  <a:schemeClr val="tx1"/>
                </a:solidFill>
                <a:effectLst/>
                <a:latin typeface="+mn-lt"/>
                <a:ea typeface="+mn-ea"/>
                <a:cs typeface="+mn-cs"/>
              </a:rPr>
              <a:t>Standardize salary bands across regions</a:t>
            </a:r>
          </a:p>
          <a:p>
            <a:r>
              <a:rPr lang="en-US" sz="1200" b="1" kern="1200" dirty="0" smtClean="0">
                <a:solidFill>
                  <a:schemeClr val="tx1"/>
                </a:solidFill>
                <a:effectLst/>
                <a:latin typeface="+mn-lt"/>
                <a:ea typeface="+mn-ea"/>
                <a:cs typeface="+mn-cs"/>
              </a:rPr>
              <a:t>Performance Governance</a:t>
            </a:r>
          </a:p>
          <a:p>
            <a:r>
              <a:rPr lang="en-US" sz="1200" b="1" kern="1200" dirty="0" smtClean="0">
                <a:solidFill>
                  <a:schemeClr val="tx1"/>
                </a:solidFill>
                <a:effectLst/>
                <a:latin typeface="+mn-lt"/>
                <a:ea typeface="+mn-ea"/>
                <a:cs typeface="+mn-cs"/>
              </a:rPr>
              <a:t>Implement uniform rating criteria</a:t>
            </a:r>
          </a:p>
          <a:p>
            <a:r>
              <a:rPr lang="en-US" sz="1200" b="1" kern="1200" dirty="0" smtClean="0">
                <a:solidFill>
                  <a:schemeClr val="tx1"/>
                </a:solidFill>
                <a:effectLst/>
                <a:latin typeface="+mn-lt"/>
                <a:ea typeface="+mn-ea"/>
                <a:cs typeface="+mn-cs"/>
              </a:rPr>
              <a:t>Introduce cross-department rating calibration</a:t>
            </a:r>
          </a:p>
          <a:p>
            <a:r>
              <a:rPr lang="en-US" sz="1200" b="1" kern="1200" dirty="0" smtClean="0">
                <a:solidFill>
                  <a:schemeClr val="tx1"/>
                </a:solidFill>
                <a:effectLst/>
                <a:latin typeface="+mn-lt"/>
                <a:ea typeface="+mn-ea"/>
                <a:cs typeface="+mn-cs"/>
              </a:rPr>
              <a:t>Compliance</a:t>
            </a:r>
          </a:p>
          <a:p>
            <a:r>
              <a:rPr lang="en-US" sz="1200" b="1" kern="1200" dirty="0" smtClean="0">
                <a:solidFill>
                  <a:schemeClr val="tx1"/>
                </a:solidFill>
                <a:effectLst/>
                <a:latin typeface="+mn-lt"/>
                <a:ea typeface="+mn-ea"/>
                <a:cs typeface="+mn-cs"/>
              </a:rPr>
              <a:t>Adjust all salaries below $90,000</a:t>
            </a:r>
          </a:p>
          <a:p>
            <a:r>
              <a:rPr lang="en-US" sz="1200" b="1" kern="1200" dirty="0" smtClean="0">
                <a:solidFill>
                  <a:schemeClr val="tx1"/>
                </a:solidFill>
                <a:effectLst/>
                <a:latin typeface="+mn-lt"/>
                <a:ea typeface="+mn-ea"/>
                <a:cs typeface="+mn-cs"/>
              </a:rPr>
              <a:t>Automate wage compliance checks</a:t>
            </a:r>
          </a:p>
          <a:p>
            <a:r>
              <a:rPr lang="en-US" sz="1200" b="1" kern="1200" dirty="0" smtClean="0">
                <a:solidFill>
                  <a:schemeClr val="tx1"/>
                </a:solidFill>
                <a:effectLst/>
                <a:latin typeface="+mn-lt"/>
                <a:ea typeface="+mn-ea"/>
                <a:cs typeface="+mn-cs"/>
              </a:rPr>
              <a:t>Bonus Governance</a:t>
            </a:r>
          </a:p>
          <a:p>
            <a:r>
              <a:rPr lang="en-US" sz="1200" b="1" kern="1200" dirty="0" smtClean="0">
                <a:solidFill>
                  <a:schemeClr val="tx1"/>
                </a:solidFill>
                <a:effectLst/>
                <a:latin typeface="+mn-lt"/>
                <a:ea typeface="+mn-ea"/>
                <a:cs typeface="+mn-cs"/>
              </a:rPr>
              <a:t>Improve transparency in bonus calculation</a:t>
            </a:r>
          </a:p>
          <a:p>
            <a:r>
              <a:rPr lang="en-US" sz="1200" b="1" kern="1200" dirty="0" smtClean="0">
                <a:solidFill>
                  <a:schemeClr val="tx1"/>
                </a:solidFill>
                <a:effectLst/>
                <a:latin typeface="+mn-lt"/>
                <a:ea typeface="+mn-ea"/>
                <a:cs typeface="+mn-cs"/>
              </a:rPr>
              <a:t>Align bonuses with both performance and equity goals</a:t>
            </a:r>
          </a:p>
          <a:p>
            <a:r>
              <a:rPr lang="en-US" sz="1200" b="1" kern="1200" dirty="0" smtClean="0">
                <a:solidFill>
                  <a:schemeClr val="tx1"/>
                </a:solidFill>
                <a:effectLst/>
                <a:latin typeface="+mn-lt"/>
                <a:ea typeface="+mn-ea"/>
                <a:cs typeface="+mn-cs"/>
              </a:rPr>
              <a:t>Defense Point:</a:t>
            </a:r>
          </a:p>
          <a:p>
            <a:r>
              <a:rPr lang="en-US" sz="1200" b="1" kern="1200" dirty="0" smtClean="0">
                <a:solidFill>
                  <a:schemeClr val="tx1"/>
                </a:solidFill>
                <a:effectLst/>
                <a:latin typeface="+mn-lt"/>
                <a:ea typeface="+mn-ea"/>
                <a:cs typeface="+mn-cs"/>
              </a:rPr>
              <a:t>These actions reduce legal risk, improve morale, and support Palmoria’s expansion goals.</a:t>
            </a:r>
          </a:p>
          <a:p>
            <a:r>
              <a:rPr lang="en-US" sz="1200" b="1" kern="1200" dirty="0" smtClean="0">
                <a:solidFill>
                  <a:schemeClr val="tx1"/>
                </a:solidFill>
                <a:effectLst/>
                <a:latin typeface="+mn-lt"/>
                <a:ea typeface="+mn-ea"/>
                <a:cs typeface="+mn-cs"/>
              </a:rPr>
              <a:t>3. Final Conclusion (Why This Analysis Matters)</a:t>
            </a:r>
          </a:p>
          <a:p>
            <a:r>
              <a:rPr lang="en-US" sz="1200" b="1" kern="1200" dirty="0" smtClean="0">
                <a:solidFill>
                  <a:schemeClr val="tx1"/>
                </a:solidFill>
                <a:effectLst/>
                <a:latin typeface="+mn-lt"/>
                <a:ea typeface="+mn-ea"/>
                <a:cs typeface="+mn-cs"/>
              </a:rPr>
              <a:t>“The analysis shows that Palmoria’s challenge is not lack of resources, but inequitable allocation. By using this dashboard as a continuous decision-support tool, management can correct gender imbalance, ensure compliance, and improve productivity.”</a:t>
            </a:r>
          </a:p>
          <a:p>
            <a:r>
              <a:rPr lang="en-US" sz="1200" b="1" kern="1200" dirty="0" smtClean="0">
                <a:solidFill>
                  <a:schemeClr val="tx1"/>
                </a:solidFill>
                <a:effectLst/>
                <a:latin typeface="+mn-lt"/>
                <a:ea typeface="+mn-ea"/>
                <a:cs typeface="+mn-cs"/>
              </a:rPr>
              <a:t>Business Value</a:t>
            </a:r>
          </a:p>
          <a:p>
            <a:r>
              <a:rPr lang="en-US" sz="1200" b="1" kern="1200" dirty="0" smtClean="0">
                <a:solidFill>
                  <a:schemeClr val="tx1"/>
                </a:solidFill>
                <a:effectLst/>
                <a:latin typeface="+mn-lt"/>
                <a:ea typeface="+mn-ea"/>
                <a:cs typeface="+mn-cs"/>
              </a:rPr>
              <a:t>Stronger employer brand</a:t>
            </a:r>
          </a:p>
          <a:p>
            <a:r>
              <a:rPr lang="en-US" sz="1200" b="1" kern="1200" dirty="0" smtClean="0">
                <a:solidFill>
                  <a:schemeClr val="tx1"/>
                </a:solidFill>
                <a:effectLst/>
                <a:latin typeface="+mn-lt"/>
                <a:ea typeface="+mn-ea"/>
                <a:cs typeface="+mn-cs"/>
              </a:rPr>
              <a:t>Higher employee retention</a:t>
            </a:r>
          </a:p>
          <a:p>
            <a:r>
              <a:rPr lang="en-US" sz="1200" b="1" kern="1200" dirty="0" smtClean="0">
                <a:solidFill>
                  <a:schemeClr val="tx1"/>
                </a:solidFill>
                <a:effectLst/>
                <a:latin typeface="+mn-lt"/>
                <a:ea typeface="+mn-ea"/>
                <a:cs typeface="+mn-cs"/>
              </a:rPr>
              <a:t>Improved productivity</a:t>
            </a:r>
          </a:p>
          <a:p>
            <a:r>
              <a:rPr lang="en-US" sz="1200" b="1" kern="1200" dirty="0" smtClean="0">
                <a:solidFill>
                  <a:schemeClr val="tx1"/>
                </a:solidFill>
                <a:effectLst/>
                <a:latin typeface="+mn-lt"/>
                <a:ea typeface="+mn-ea"/>
                <a:cs typeface="+mn-cs"/>
              </a:rPr>
              <a:t>Reduced reputational and regulatory risk</a:t>
            </a:r>
          </a:p>
          <a:p>
            <a:r>
              <a:rPr lang="en-US" sz="1200" b="1" kern="1200" dirty="0" smtClean="0">
                <a:solidFill>
                  <a:schemeClr val="tx1"/>
                </a:solidFill>
                <a:effectLst/>
                <a:latin typeface="+mn-lt"/>
                <a:ea typeface="+mn-ea"/>
                <a:cs typeface="+mn-cs"/>
              </a:rPr>
              <a:t>Strong Closing Line (Use This Exactly)</a:t>
            </a:r>
          </a:p>
          <a:p>
            <a:r>
              <a:rPr lang="en-US" sz="1200" b="1" kern="1200" dirty="0" smtClean="0">
                <a:solidFill>
                  <a:schemeClr val="tx1"/>
                </a:solidFill>
                <a:effectLst/>
                <a:latin typeface="+mn-lt"/>
                <a:ea typeface="+mn-ea"/>
                <a:cs typeface="+mn-cs"/>
              </a:rPr>
              <a:t>“This dashboard transforms HR data into strategic insight, enabling Palmoria Group to move from reactive management to proactive, evidence-based decision-making.”</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15</a:t>
            </a:fld>
            <a:endParaRPr lang="en-US"/>
          </a:p>
        </p:txBody>
      </p:sp>
    </p:spTree>
    <p:extLst>
      <p:ext uri="{BB962C8B-B14F-4D97-AF65-F5344CB8AC3E}">
        <p14:creationId xmlns:p14="http://schemas.microsoft.com/office/powerpoint/2010/main" val="39810871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Now that we've seen why we need to act, let's talk about how. These are five concrete, strategic recommendations for management to move from insight to impact.</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First, on Gender Equity: We need to move beyond company-wide goals. We are recommending department-level diversity targets, tailored to each unit's current baseline and function. Concurrently, we must actively promote female participation in technical and leadership roles through targeted mentorship programs and succession planning.</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Second, Pay Equity: This requires direct and corrective action. We must conduct focused salary correction exercises in high-gap departments immediately. In parallel, to prevent future disparities, we need to standardize salary bands across all regions, ensuring like roles are paid equitably regardless of location.</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Third, Performance Governance: Inconsistency in ratings fuels inequity. We will implement uniform rating criteria company-wide and introduce cross-department calibration committees. This ensures an 'Exceeds' in one team means the same as an 'Exceeds' in another, making promotions and bonuses fair and defensible.</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Fourth, Compliance: There are clear, non-negotiable actions here. We must adjust all salaries currently below the $90,000 threshold to comply with the new regulations. Furthermore, we should automate wage compliance checks within our HR systems to flag issues in real-time, turning compliance from an annual audit into a continuous process.</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Finally, Bonus Governance: Bonuses are a powerful lever. We need to improve transparency by clearly communicating the formula used for bonus calculations. More importantly, we must align bonus distribution not only with performance but also with our equity goals, rewarding managers who foster diverse and equitable teams.</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Each of these actions is measurable, owned, and designed to work together. They address the root causes we identified and will directly drive the business value we just outlined."</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18</a:t>
            </a:fld>
            <a:endParaRPr lang="en-US"/>
          </a:p>
        </p:txBody>
      </p:sp>
    </p:spTree>
    <p:extLst>
      <p:ext uri="{BB962C8B-B14F-4D97-AF65-F5344CB8AC3E}">
        <p14:creationId xmlns:p14="http://schemas.microsoft.com/office/powerpoint/2010/main" val="576873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Let’s talk about the most important takeaway from all this data.</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Our analysis has revealed a critical insight: </a:t>
            </a:r>
            <a:r>
              <a:rPr lang="en-US" sz="1200" b="1" kern="1200" dirty="0" err="1" smtClean="0">
                <a:solidFill>
                  <a:schemeClr val="tx1"/>
                </a:solidFill>
                <a:effectLst/>
                <a:latin typeface="+mn-lt"/>
                <a:ea typeface="+mn-ea"/>
                <a:cs typeface="+mn-cs"/>
              </a:rPr>
              <a:t>Palmoría’s</a:t>
            </a:r>
            <a:r>
              <a:rPr lang="en-US" sz="1200" b="1" kern="1200" dirty="0" smtClean="0">
                <a:solidFill>
                  <a:schemeClr val="tx1"/>
                </a:solidFill>
                <a:effectLst/>
                <a:latin typeface="+mn-lt"/>
                <a:ea typeface="+mn-ea"/>
                <a:cs typeface="+mn-cs"/>
              </a:rPr>
              <a:t> primary challenge isn't a scarcity of talent or resources. The root issue is how those resources—opportunities, promotions, compensation—are currently distributed. We have an inequitable allocation, and that is holding us back.</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This is why this dashboard is so much more than just a report. It is a living, continuous decision-support tool. It allows management to move from reactive problem-solving to proactive management.</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By actively using this dashboard to track our key metrics, we can achieve three powerful outcomes:</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1. Correct Gender Imbalance: We can make intentional, data-driven decisions in hiring, promotions, and project assignments to create a more balanced and fair workplace.</a:t>
            </a:r>
          </a:p>
          <a:p>
            <a:r>
              <a:rPr lang="en-US" sz="1200" b="1" kern="1200" dirty="0" smtClean="0">
                <a:solidFill>
                  <a:schemeClr val="tx1"/>
                </a:solidFill>
                <a:effectLst/>
                <a:latin typeface="+mn-lt"/>
                <a:ea typeface="+mn-ea"/>
                <a:cs typeface="+mn-cs"/>
              </a:rPr>
              <a:t>2. Ensure Compliance: We can monitor pay equity and representation in real-time, staying ahead of regulations and avoiding costly legal exposure.</a:t>
            </a:r>
          </a:p>
          <a:p>
            <a:r>
              <a:rPr lang="en-US" sz="1200" b="1" kern="1200" dirty="0" smtClean="0">
                <a:solidFill>
                  <a:schemeClr val="tx1"/>
                </a:solidFill>
                <a:effectLst/>
                <a:latin typeface="+mn-lt"/>
                <a:ea typeface="+mn-ea"/>
                <a:cs typeface="+mn-cs"/>
              </a:rPr>
              <a:t>3. Improve Productivity: A fair and equitable workplace is a productive one. When employees feel valued and see a clear path for growth, engagement and output rise.</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The business value of getting this right is immense and tangible. We’re talking about:</a:t>
            </a:r>
          </a:p>
          <a:p>
            <a:r>
              <a:rPr lang="en-US" sz="1200" b="1" kern="1200" dirty="0" smtClean="0">
                <a:solidFill>
                  <a:schemeClr val="tx1"/>
                </a:solidFill>
                <a:effectLst/>
                <a:latin typeface="+mn-lt"/>
                <a:ea typeface="+mn-ea"/>
                <a:cs typeface="+mn-cs"/>
              </a:rPr>
              <a:t> </a:t>
            </a:r>
          </a:p>
          <a:p>
            <a:r>
              <a:rPr lang="en-US" sz="1200" b="1" kern="1200" dirty="0" smtClean="0">
                <a:solidFill>
                  <a:schemeClr val="tx1"/>
                </a:solidFill>
                <a:effectLst/>
                <a:latin typeface="+mn-lt"/>
                <a:ea typeface="+mn-ea"/>
                <a:cs typeface="+mn-cs"/>
              </a:rPr>
              <a:t>· Building a stronger employer brand that attracts top-tier, diverse talent.</a:t>
            </a:r>
          </a:p>
          <a:p>
            <a:r>
              <a:rPr lang="en-US" sz="1200" b="1" kern="1200" dirty="0" smtClean="0">
                <a:solidFill>
                  <a:schemeClr val="tx1"/>
                </a:solidFill>
                <a:effectLst/>
                <a:latin typeface="+mn-lt"/>
                <a:ea typeface="+mn-ea"/>
                <a:cs typeface="+mn-cs"/>
              </a:rPr>
              <a:t>· Achieving higher employee retention, which saves significant recruitment and training costs.</a:t>
            </a:r>
          </a:p>
          <a:p>
            <a:r>
              <a:rPr lang="en-US" sz="1200" b="1" kern="1200" dirty="0" smtClean="0">
                <a:solidFill>
                  <a:schemeClr val="tx1"/>
                </a:solidFill>
                <a:effectLst/>
                <a:latin typeface="+mn-lt"/>
                <a:ea typeface="+mn-ea"/>
                <a:cs typeface="+mn-cs"/>
              </a:rPr>
              <a:t>· Ultimately seeing improved productivity across teams.</a:t>
            </a:r>
          </a:p>
          <a:p>
            <a:r>
              <a:rPr lang="en-US" sz="1200" b="1" kern="1200" dirty="0" smtClean="0">
                <a:solidFill>
                  <a:schemeClr val="tx1"/>
                </a:solidFill>
                <a:effectLst/>
                <a:latin typeface="+mn-lt"/>
                <a:ea typeface="+mn-ea"/>
                <a:cs typeface="+mn-cs"/>
              </a:rPr>
              <a:t>· And, very critically, dramatically reducing our reputational and regulatory risks.</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19</a:t>
            </a:fld>
            <a:endParaRPr lang="en-US"/>
          </a:p>
        </p:txBody>
      </p:sp>
    </p:spTree>
    <p:extLst>
      <p:ext uri="{BB962C8B-B14F-4D97-AF65-F5344CB8AC3E}">
        <p14:creationId xmlns:p14="http://schemas.microsoft.com/office/powerpoint/2010/main" val="1953603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C62BF24-A6EF-4CF3-9304-8AE1119685F6}"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3866133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62BF24-A6EF-4CF3-9304-8AE1119685F6}"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3778149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62BF24-A6EF-4CF3-9304-8AE1119685F6}"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4047139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C62BF24-A6EF-4CF3-9304-8AE1119685F6}"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2019192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C62BF24-A6EF-4CF3-9304-8AE1119685F6}"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2136654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C62BF24-A6EF-4CF3-9304-8AE1119685F6}"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4158081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62BF24-A6EF-4CF3-9304-8AE1119685F6}"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1533545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2BF24-A6EF-4CF3-9304-8AE1119685F6}"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1768102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2BF24-A6EF-4CF3-9304-8AE1119685F6}"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1941454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62BF24-A6EF-4CF3-9304-8AE1119685F6}"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4089531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62BF24-A6EF-4CF3-9304-8AE1119685F6}"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59472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62BF24-A6EF-4CF3-9304-8AE1119685F6}" type="datetimeFigureOut">
              <a:rPr lang="en-US" smtClean="0"/>
              <a:t>1/30/2026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3076B4-4B7A-49B4-A309-C27E4048DDF9}" type="slidenum">
              <a:rPr lang="en-US" smtClean="0"/>
              <a:t>‹#›</a:t>
            </a:fld>
            <a:endParaRPr lang="en-US"/>
          </a:p>
        </p:txBody>
      </p:sp>
    </p:spTree>
    <p:extLst>
      <p:ext uri="{BB962C8B-B14F-4D97-AF65-F5344CB8AC3E}">
        <p14:creationId xmlns:p14="http://schemas.microsoft.com/office/powerpoint/2010/main" val="3554878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1981199"/>
          </a:xfrm>
        </p:spPr>
        <p:txBody>
          <a:bodyPr>
            <a:noAutofit/>
          </a:bodyPr>
          <a:lstStyle/>
          <a:p>
            <a:r>
              <a:rPr lang="en-US" sz="3600" dirty="0" smtClean="0"/>
              <a:t/>
            </a:r>
            <a:br>
              <a:rPr lang="en-US" sz="3600" dirty="0" smtClean="0"/>
            </a:br>
            <a:r>
              <a:rPr lang="en-US" sz="3600" b="1" dirty="0" smtClean="0"/>
              <a:t>TITLE: </a:t>
            </a:r>
            <a:r>
              <a:rPr lang="en-US" sz="3600" dirty="0" smtClean="0"/>
              <a:t>Gender Equality and Compensation Analysis For Palmoria Group using</a:t>
            </a:r>
            <a:br>
              <a:rPr lang="en-US" sz="3600" dirty="0" smtClean="0"/>
            </a:br>
            <a:r>
              <a:rPr lang="en-US" sz="3600" dirty="0" smtClean="0"/>
              <a:t>Power BI  </a:t>
            </a:r>
            <a:br>
              <a:rPr lang="en-US" sz="3600" dirty="0" smtClean="0"/>
            </a:br>
            <a:r>
              <a:rPr lang="en-US" sz="3600" dirty="0" smtClean="0"/>
              <a:t>`</a:t>
            </a:r>
            <a:endParaRPr lang="en-US" sz="3600" dirty="0"/>
          </a:p>
        </p:txBody>
      </p:sp>
      <p:sp>
        <p:nvSpPr>
          <p:cNvPr id="3" name="Subtitle 2"/>
          <p:cNvSpPr>
            <a:spLocks noGrp="1"/>
          </p:cNvSpPr>
          <p:nvPr>
            <p:ph type="subTitle" idx="1"/>
          </p:nvPr>
        </p:nvSpPr>
        <p:spPr>
          <a:xfrm>
            <a:off x="685800" y="2667000"/>
            <a:ext cx="8382000" cy="2971800"/>
          </a:xfrm>
        </p:spPr>
        <p:txBody>
          <a:bodyPr/>
          <a:lstStyle/>
          <a:p>
            <a:endParaRPr lang="en-US" b="1" dirty="0" smtClean="0"/>
          </a:p>
          <a:p>
            <a:r>
              <a:rPr lang="en-US" b="1" dirty="0" smtClean="0"/>
              <a:t>Presented by: </a:t>
            </a:r>
            <a:r>
              <a:rPr lang="en-US" dirty="0" smtClean="0"/>
              <a:t>Anthony Akpan</a:t>
            </a:r>
          </a:p>
          <a:p>
            <a:r>
              <a:rPr lang="en-US" b="1" dirty="0" smtClean="0"/>
              <a:t>DATE: 30</a:t>
            </a:r>
            <a:r>
              <a:rPr lang="en-US" b="1" baseline="30000" dirty="0" smtClean="0"/>
              <a:t>th</a:t>
            </a:r>
            <a:r>
              <a:rPr lang="en-US" b="1" dirty="0" smtClean="0"/>
              <a:t> </a:t>
            </a:r>
            <a:r>
              <a:rPr lang="en-US" dirty="0" smtClean="0"/>
              <a:t> January, 2026</a:t>
            </a:r>
            <a:endParaRPr lang="en-US" dirty="0"/>
          </a:p>
          <a:p>
            <a:endParaRPr lang="en-US" dirty="0"/>
          </a:p>
          <a:p>
            <a:endParaRPr lang="en-US" dirty="0"/>
          </a:p>
        </p:txBody>
      </p:sp>
    </p:spTree>
    <p:extLst>
      <p:ext uri="{BB962C8B-B14F-4D97-AF65-F5344CB8AC3E}">
        <p14:creationId xmlns:p14="http://schemas.microsoft.com/office/powerpoint/2010/main" val="2570957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smtClean="0"/>
              <a:t>Data </a:t>
            </a:r>
            <a:r>
              <a:rPr lang="en-US" sz="3800" b="1" dirty="0"/>
              <a:t>Description</a:t>
            </a:r>
          </a:p>
        </p:txBody>
      </p:sp>
      <p:sp>
        <p:nvSpPr>
          <p:cNvPr id="3" name="Content Placeholder 2"/>
          <p:cNvSpPr>
            <a:spLocks noGrp="1"/>
          </p:cNvSpPr>
          <p:nvPr>
            <p:ph idx="1"/>
          </p:nvPr>
        </p:nvSpPr>
        <p:spPr>
          <a:xfrm>
            <a:off x="457200" y="1600200"/>
            <a:ext cx="8534400" cy="4953000"/>
          </a:xfrm>
        </p:spPr>
        <p:txBody>
          <a:bodyPr>
            <a:normAutofit fontScale="85000" lnSpcReduction="20000"/>
          </a:bodyPr>
          <a:lstStyle/>
          <a:p>
            <a:pPr marL="0" indent="0">
              <a:buNone/>
            </a:pPr>
            <a:r>
              <a:rPr lang="en-US" b="1" dirty="0" smtClean="0"/>
              <a:t>Two </a:t>
            </a:r>
            <a:r>
              <a:rPr lang="en-US" b="1" dirty="0"/>
              <a:t>datasets were provided for this project:</a:t>
            </a:r>
          </a:p>
          <a:p>
            <a:pPr marL="514350" indent="-514350">
              <a:buFont typeface="+mj-lt"/>
              <a:buAutoNum type="arabicPeriod"/>
            </a:pPr>
            <a:r>
              <a:rPr lang="en-US" dirty="0" smtClean="0"/>
              <a:t> </a:t>
            </a:r>
            <a:r>
              <a:rPr lang="en-US" b="1" dirty="0"/>
              <a:t>Employee </a:t>
            </a:r>
            <a:r>
              <a:rPr lang="en-US" b="1" dirty="0" smtClean="0"/>
              <a:t>Dataset:</a:t>
            </a:r>
            <a:r>
              <a:rPr lang="en-US" b="1" dirty="0"/>
              <a:t>  </a:t>
            </a:r>
            <a:r>
              <a:rPr lang="en-US" dirty="0" smtClean="0"/>
              <a:t>It </a:t>
            </a:r>
            <a:r>
              <a:rPr lang="en-US" dirty="0"/>
              <a:t>c</a:t>
            </a:r>
            <a:r>
              <a:rPr lang="en-US" dirty="0" smtClean="0"/>
              <a:t>ontains </a:t>
            </a:r>
            <a:r>
              <a:rPr lang="en-US" dirty="0"/>
              <a:t>employee-level information </a:t>
            </a:r>
            <a:r>
              <a:rPr lang="en-US" dirty="0" smtClean="0"/>
              <a:t>including:</a:t>
            </a:r>
          </a:p>
          <a:p>
            <a:pPr>
              <a:buFont typeface="Wingdings" pitchFamily="2" charset="2"/>
              <a:buChar char="v"/>
            </a:pPr>
            <a:r>
              <a:rPr lang="en-US" dirty="0" smtClean="0"/>
              <a:t>Gender</a:t>
            </a:r>
            <a:endParaRPr lang="en-US" dirty="0"/>
          </a:p>
          <a:p>
            <a:pPr>
              <a:buFont typeface="Wingdings" pitchFamily="2" charset="2"/>
              <a:buChar char="v"/>
            </a:pPr>
            <a:r>
              <a:rPr lang="en-US" dirty="0"/>
              <a:t>Department</a:t>
            </a:r>
          </a:p>
          <a:p>
            <a:pPr>
              <a:buFont typeface="Wingdings" pitchFamily="2" charset="2"/>
              <a:buChar char="v"/>
            </a:pPr>
            <a:r>
              <a:rPr lang="en-US" dirty="0"/>
              <a:t>Region</a:t>
            </a:r>
          </a:p>
          <a:p>
            <a:pPr>
              <a:buFont typeface="Wingdings" pitchFamily="2" charset="2"/>
              <a:buChar char="v"/>
            </a:pPr>
            <a:r>
              <a:rPr lang="en-US" dirty="0"/>
              <a:t>Salary</a:t>
            </a:r>
          </a:p>
          <a:p>
            <a:pPr>
              <a:buFont typeface="Wingdings" pitchFamily="2" charset="2"/>
              <a:buChar char="v"/>
            </a:pPr>
            <a:r>
              <a:rPr lang="en-US" dirty="0"/>
              <a:t>Performance </a:t>
            </a:r>
            <a:r>
              <a:rPr lang="en-US" dirty="0" smtClean="0"/>
              <a:t>Rating</a:t>
            </a:r>
          </a:p>
          <a:p>
            <a:pPr marL="0" indent="0">
              <a:buNone/>
            </a:pPr>
            <a:r>
              <a:rPr lang="en-US" dirty="0" smtClean="0"/>
              <a:t>2.  </a:t>
            </a:r>
            <a:r>
              <a:rPr lang="en-US" dirty="0"/>
              <a:t>Bonus Rules </a:t>
            </a:r>
            <a:r>
              <a:rPr lang="en-US" dirty="0" smtClean="0"/>
              <a:t>Dataset:</a:t>
            </a:r>
            <a:r>
              <a:rPr lang="en-US" dirty="0"/>
              <a:t> </a:t>
            </a:r>
            <a:r>
              <a:rPr lang="en-US" dirty="0" smtClean="0"/>
              <a:t>It contains </a:t>
            </a:r>
            <a:r>
              <a:rPr lang="en-US" dirty="0"/>
              <a:t>rules that define:</a:t>
            </a:r>
          </a:p>
          <a:p>
            <a:pPr>
              <a:buFont typeface="Wingdings" pitchFamily="2" charset="2"/>
              <a:buChar char="v"/>
            </a:pPr>
            <a:r>
              <a:rPr lang="en-US" dirty="0"/>
              <a:t>Performance rating</a:t>
            </a:r>
          </a:p>
          <a:p>
            <a:pPr>
              <a:buFont typeface="Wingdings" pitchFamily="2" charset="2"/>
              <a:buChar char="v"/>
            </a:pPr>
            <a:r>
              <a:rPr lang="en-US" dirty="0"/>
              <a:t>Corresponding bonus percentage</a:t>
            </a:r>
          </a:p>
          <a:p>
            <a:pPr marL="0" indent="0">
              <a:buNone/>
            </a:pPr>
            <a:r>
              <a:rPr lang="en-US" dirty="0"/>
              <a:t>These datasets were integrated using Power BI for analysis.</a:t>
            </a:r>
          </a:p>
          <a:p>
            <a:endParaRPr lang="en-US" dirty="0"/>
          </a:p>
        </p:txBody>
      </p:sp>
    </p:spTree>
    <p:extLst>
      <p:ext uri="{BB962C8B-B14F-4D97-AF65-F5344CB8AC3E}">
        <p14:creationId xmlns:p14="http://schemas.microsoft.com/office/powerpoint/2010/main" val="3008129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Objectives of the Analysis</a:t>
            </a:r>
            <a:endParaRPr lang="en-US" sz="3800" b="1" dirty="0"/>
          </a:p>
        </p:txBody>
      </p:sp>
      <p:sp>
        <p:nvSpPr>
          <p:cNvPr id="3" name="Content Placeholder 2"/>
          <p:cNvSpPr>
            <a:spLocks noGrp="1"/>
          </p:cNvSpPr>
          <p:nvPr>
            <p:ph idx="1"/>
          </p:nvPr>
        </p:nvSpPr>
        <p:spPr/>
        <p:txBody>
          <a:bodyPr>
            <a:normAutofit fontScale="85000" lnSpcReduction="10000"/>
          </a:bodyPr>
          <a:lstStyle/>
          <a:p>
            <a:pPr marL="0" indent="0">
              <a:buNone/>
            </a:pPr>
            <a:r>
              <a:rPr lang="en-US" dirty="0" smtClean="0"/>
              <a:t> The </a:t>
            </a:r>
            <a:r>
              <a:rPr lang="en-US" dirty="0"/>
              <a:t>key objectives of this analysis are to:</a:t>
            </a:r>
          </a:p>
          <a:p>
            <a:pPr>
              <a:buFont typeface="Wingdings" pitchFamily="2" charset="2"/>
              <a:buChar char="v"/>
            </a:pPr>
            <a:r>
              <a:rPr lang="en-US" dirty="0"/>
              <a:t>Examine gender distribution across the organization, regions, and departments</a:t>
            </a:r>
          </a:p>
          <a:p>
            <a:pPr>
              <a:buFont typeface="Wingdings" pitchFamily="2" charset="2"/>
              <a:buChar char="v"/>
            </a:pPr>
            <a:r>
              <a:rPr lang="en-US" dirty="0"/>
              <a:t>Assess performance ratings by gender</a:t>
            </a:r>
          </a:p>
          <a:p>
            <a:pPr>
              <a:buFont typeface="Wingdings" pitchFamily="2" charset="2"/>
              <a:buChar char="v"/>
            </a:pPr>
            <a:r>
              <a:rPr lang="en-US" dirty="0" smtClean="0"/>
              <a:t>Analyze </a:t>
            </a:r>
            <a:r>
              <a:rPr lang="en-US" dirty="0"/>
              <a:t>salary structure and identify gender pay gaps</a:t>
            </a:r>
          </a:p>
          <a:p>
            <a:pPr>
              <a:buFont typeface="Wingdings" pitchFamily="2" charset="2"/>
              <a:buChar char="v"/>
            </a:pPr>
            <a:r>
              <a:rPr lang="en-US" dirty="0"/>
              <a:t>Evaluate compliance with the $90,000 minimum wage regulation</a:t>
            </a:r>
          </a:p>
          <a:p>
            <a:pPr>
              <a:buFont typeface="Wingdings" pitchFamily="2" charset="2"/>
              <a:buChar char="v"/>
            </a:pPr>
            <a:r>
              <a:rPr lang="en-US" dirty="0" smtClean="0"/>
              <a:t>Analyze </a:t>
            </a:r>
            <a:r>
              <a:rPr lang="en-US" dirty="0"/>
              <a:t>salary distribution using $10,000 pay bands</a:t>
            </a:r>
          </a:p>
          <a:p>
            <a:pPr>
              <a:buFont typeface="Wingdings" pitchFamily="2" charset="2"/>
              <a:buChar char="v"/>
            </a:pPr>
            <a:r>
              <a:rPr lang="en-US" dirty="0"/>
              <a:t>Calculate employee bonus payments and total payroll cost</a:t>
            </a:r>
          </a:p>
          <a:p>
            <a:endParaRPr lang="en-US" dirty="0"/>
          </a:p>
        </p:txBody>
      </p:sp>
    </p:spTree>
    <p:extLst>
      <p:ext uri="{BB962C8B-B14F-4D97-AF65-F5344CB8AC3E}">
        <p14:creationId xmlns:p14="http://schemas.microsoft.com/office/powerpoint/2010/main" val="303076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dirty="0"/>
              <a:t>DATA PREPARATION &amp; TRANSFORMATION</a:t>
            </a:r>
          </a:p>
        </p:txBody>
      </p:sp>
      <p:sp>
        <p:nvSpPr>
          <p:cNvPr id="3" name="Content Placeholder 2"/>
          <p:cNvSpPr>
            <a:spLocks noGrp="1"/>
          </p:cNvSpPr>
          <p:nvPr>
            <p:ph idx="1"/>
          </p:nvPr>
        </p:nvSpPr>
        <p:spPr/>
        <p:txBody>
          <a:bodyPr/>
          <a:lstStyle/>
          <a:p>
            <a:pPr>
              <a:buFont typeface="Wingdings" pitchFamily="2" charset="2"/>
              <a:buChar char="v"/>
            </a:pPr>
            <a:r>
              <a:rPr lang="en-US" dirty="0"/>
              <a:t>Removed employees without salary (no longer with company)</a:t>
            </a:r>
          </a:p>
          <a:p>
            <a:pPr>
              <a:buFont typeface="Wingdings" pitchFamily="2" charset="2"/>
              <a:buChar char="v"/>
            </a:pPr>
            <a:r>
              <a:rPr lang="en-US" dirty="0"/>
              <a:t>Removed records with NULL departments</a:t>
            </a:r>
          </a:p>
          <a:p>
            <a:pPr>
              <a:buFont typeface="Wingdings" pitchFamily="2" charset="2"/>
              <a:buChar char="v"/>
            </a:pPr>
            <a:r>
              <a:rPr lang="en-US" dirty="0"/>
              <a:t>Assigned “Undisclosed” gender where not provided</a:t>
            </a:r>
          </a:p>
          <a:p>
            <a:pPr>
              <a:buFont typeface="Wingdings" pitchFamily="2" charset="2"/>
              <a:buChar char="v"/>
            </a:pPr>
            <a:r>
              <a:rPr lang="en-US" dirty="0"/>
              <a:t>Created salary bands in $10,000 intervals</a:t>
            </a:r>
          </a:p>
          <a:p>
            <a:pPr>
              <a:buFont typeface="Wingdings" pitchFamily="2" charset="2"/>
              <a:buChar char="v"/>
            </a:pPr>
            <a:r>
              <a:rPr lang="en-US" dirty="0"/>
              <a:t>Modeled bonus rules and total compensation</a:t>
            </a:r>
          </a:p>
          <a:p>
            <a:endParaRPr lang="en-US" dirty="0"/>
          </a:p>
        </p:txBody>
      </p:sp>
    </p:spTree>
    <p:extLst>
      <p:ext uri="{BB962C8B-B14F-4D97-AF65-F5344CB8AC3E}">
        <p14:creationId xmlns:p14="http://schemas.microsoft.com/office/powerpoint/2010/main" val="692118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7924800" cy="715962"/>
          </a:xfrm>
        </p:spPr>
        <p:txBody>
          <a:bodyPr>
            <a:noAutofit/>
          </a:bodyPr>
          <a:lstStyle/>
          <a:p>
            <a:r>
              <a:rPr lang="en-US" sz="2400" b="1" dirty="0"/>
              <a:t>GENDER DISTRIBUTION </a:t>
            </a:r>
            <a:r>
              <a:rPr lang="en-US" sz="2400" b="1" dirty="0" smtClean="0"/>
              <a:t>AND GEOGRAPHIC WORKFORCE COMPOSITION ANALYSIS</a:t>
            </a:r>
            <a:endParaRPr lang="en-US" sz="2400" b="1" dirty="0"/>
          </a:p>
        </p:txBody>
      </p:sp>
      <p:sp>
        <p:nvSpPr>
          <p:cNvPr id="3" name="Content Placeholder 2"/>
          <p:cNvSpPr>
            <a:spLocks noGrp="1"/>
          </p:cNvSpPr>
          <p:nvPr>
            <p:ph idx="1"/>
          </p:nvPr>
        </p:nvSpPr>
        <p:spPr>
          <a:xfrm>
            <a:off x="228600" y="914400"/>
            <a:ext cx="8458200" cy="5211763"/>
          </a:xfrm>
        </p:spPr>
        <p:txBody>
          <a:bodyPr>
            <a:normAutofit fontScale="62500" lnSpcReduction="20000"/>
          </a:bodyPr>
          <a:lstStyle/>
          <a:p>
            <a:pPr marL="0" indent="0" algn="ctr">
              <a:buNone/>
            </a:pPr>
            <a:r>
              <a:rPr lang="en-US" b="1" dirty="0" smtClean="0"/>
              <a:t>Insights:</a:t>
            </a:r>
          </a:p>
          <a:p>
            <a:pPr marL="0" indent="0" algn="ctr">
              <a:buNone/>
            </a:pPr>
            <a:r>
              <a:rPr lang="en-US" b="1" dirty="0" smtClean="0"/>
              <a:t>Total </a:t>
            </a:r>
            <a:r>
              <a:rPr lang="en-US" b="1" dirty="0"/>
              <a:t>Gender Distribution:</a:t>
            </a:r>
          </a:p>
          <a:p>
            <a:pPr>
              <a:buFont typeface="Wingdings" pitchFamily="2" charset="2"/>
              <a:buChar char="v"/>
            </a:pPr>
            <a:r>
              <a:rPr lang="en-US" dirty="0"/>
              <a:t>376K males (49.2%) and 355K females (46.45%) in the organization, with 33K undisclosed (4.35</a:t>
            </a:r>
            <a:r>
              <a:rPr lang="en-US" dirty="0" smtClean="0"/>
              <a:t>%).</a:t>
            </a:r>
            <a:endParaRPr lang="en-US" dirty="0"/>
          </a:p>
          <a:p>
            <a:pPr>
              <a:buFont typeface="Wingdings" pitchFamily="2" charset="2"/>
              <a:buChar char="v"/>
            </a:pPr>
            <a:r>
              <a:rPr lang="en-US" dirty="0"/>
              <a:t>The male population is larger than the female population, which is a key point for gender equality discussions.</a:t>
            </a:r>
          </a:p>
          <a:p>
            <a:pPr marL="0" indent="0" algn="ctr">
              <a:buNone/>
            </a:pPr>
            <a:r>
              <a:rPr lang="en-US" b="1" dirty="0"/>
              <a:t>Gender Distribution by Region:</a:t>
            </a:r>
          </a:p>
          <a:p>
            <a:pPr>
              <a:buFont typeface="Wingdings" pitchFamily="2" charset="2"/>
              <a:buChar char="v"/>
            </a:pPr>
            <a:r>
              <a:rPr lang="en-US" dirty="0"/>
              <a:t>Kaduna has the highest male population (172 males, 151 females), followed by Abuja (144 males, 144 </a:t>
            </a:r>
            <a:r>
              <a:rPr lang="en-US" dirty="0" smtClean="0"/>
              <a:t>females</a:t>
            </a:r>
            <a:r>
              <a:rPr lang="en-US" dirty="0"/>
              <a:t>), and Lagos (114 males, 111 females).</a:t>
            </a:r>
          </a:p>
          <a:p>
            <a:pPr>
              <a:buFont typeface="Wingdings" pitchFamily="2" charset="2"/>
              <a:buChar char="v"/>
            </a:pPr>
            <a:r>
              <a:rPr lang="en-US" dirty="0"/>
              <a:t>Gender balance is best achieved in Abuja, showing equal distribution.</a:t>
            </a:r>
          </a:p>
          <a:p>
            <a:pPr marL="0" indent="0" algn="ctr">
              <a:buNone/>
            </a:pPr>
            <a:r>
              <a:rPr lang="en-US" b="1" dirty="0"/>
              <a:t>Gender Distribution by Department:</a:t>
            </a:r>
          </a:p>
          <a:p>
            <a:pPr>
              <a:buFont typeface="Wingdings" pitchFamily="2" charset="2"/>
              <a:buChar char="v"/>
            </a:pPr>
            <a:r>
              <a:rPr lang="en-US" dirty="0"/>
              <a:t>The Product Management department has the highest total number of employees, with more males (</a:t>
            </a:r>
            <a:r>
              <a:rPr lang="en-US" dirty="0" smtClean="0"/>
              <a:t>34960</a:t>
            </a:r>
            <a:r>
              <a:rPr lang="en-US" dirty="0"/>
              <a:t>) than females (34008).</a:t>
            </a:r>
          </a:p>
          <a:p>
            <a:pPr>
              <a:buFont typeface="Wingdings" pitchFamily="2" charset="2"/>
              <a:buChar char="v"/>
            </a:pPr>
            <a:r>
              <a:rPr lang="en-US" dirty="0"/>
              <a:t>Departments like Accounting and Training have a relatively higher number of female employees, while Engineering and Product Management are more male-dominated.</a:t>
            </a:r>
          </a:p>
          <a:p>
            <a:pPr>
              <a:buFont typeface="Wingdings" pitchFamily="2" charset="2"/>
              <a:buChar char="v"/>
            </a:pPr>
            <a:endParaRPr lang="en-US" b="1" dirty="0" smtClean="0"/>
          </a:p>
          <a:p>
            <a:pPr>
              <a:buFont typeface="Wingdings" pitchFamily="2" charset="2"/>
              <a:buChar char="v"/>
            </a:pPr>
            <a:r>
              <a:rPr lang="en-US" b="1" dirty="0" smtClean="0"/>
              <a:t>Refer to Gender Distribution Analysis on the next slide</a:t>
            </a:r>
            <a:endParaRPr lang="en-US" b="1" dirty="0"/>
          </a:p>
        </p:txBody>
      </p:sp>
    </p:spTree>
    <p:extLst>
      <p:ext uri="{BB962C8B-B14F-4D97-AF65-F5344CB8AC3E}">
        <p14:creationId xmlns:p14="http://schemas.microsoft.com/office/powerpoint/2010/main" val="1995929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US" sz="3200" b="1" dirty="0" smtClean="0"/>
              <a:t>Gender Distribution Analysis Charts</a:t>
            </a:r>
            <a:endParaRPr lang="en-US" sz="3200" b="1"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200" y="821530"/>
            <a:ext cx="8610600" cy="5655469"/>
          </a:xfrm>
        </p:spPr>
      </p:pic>
    </p:spTree>
    <p:extLst>
      <p:ext uri="{BB962C8B-B14F-4D97-AF65-F5344CB8AC3E}">
        <p14:creationId xmlns:p14="http://schemas.microsoft.com/office/powerpoint/2010/main" val="317355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7848600" cy="381000"/>
          </a:xfrm>
        </p:spPr>
        <p:txBody>
          <a:bodyPr>
            <a:noAutofit/>
          </a:bodyPr>
          <a:lstStyle/>
          <a:p>
            <a:r>
              <a:rPr lang="en-US" sz="2400" b="1" dirty="0" smtClean="0"/>
              <a:t/>
            </a:r>
            <a:br>
              <a:rPr lang="en-US" sz="2400" b="1" dirty="0" smtClean="0"/>
            </a:br>
            <a:r>
              <a:rPr lang="en-US" sz="2400" b="1" dirty="0" smtClean="0"/>
              <a:t>PERFORMANCE RATINGS DISTRIBUTION </a:t>
            </a:r>
            <a:r>
              <a:rPr lang="en-US" sz="2400" b="1" dirty="0"/>
              <a:t>BY GENDER</a:t>
            </a:r>
            <a:br>
              <a:rPr lang="en-US" sz="2400" b="1" dirty="0"/>
            </a:br>
            <a:endParaRPr lang="en-US" sz="2400" b="1" dirty="0"/>
          </a:p>
        </p:txBody>
      </p:sp>
      <p:sp>
        <p:nvSpPr>
          <p:cNvPr id="3" name="Content Placeholder 2"/>
          <p:cNvSpPr>
            <a:spLocks noGrp="1"/>
          </p:cNvSpPr>
          <p:nvPr>
            <p:ph idx="1"/>
          </p:nvPr>
        </p:nvSpPr>
        <p:spPr>
          <a:xfrm>
            <a:off x="457200" y="533400"/>
            <a:ext cx="8229600" cy="5592763"/>
          </a:xfrm>
        </p:spPr>
        <p:txBody>
          <a:bodyPr>
            <a:normAutofit fontScale="77500" lnSpcReduction="20000"/>
          </a:bodyPr>
          <a:lstStyle/>
          <a:p>
            <a:pPr marL="0" indent="0" algn="ctr">
              <a:buNone/>
            </a:pPr>
            <a:r>
              <a:rPr lang="en-US" sz="2900" b="1" dirty="0"/>
              <a:t>Insights:</a:t>
            </a:r>
          </a:p>
          <a:p>
            <a:pPr marL="0" indent="0">
              <a:buNone/>
            </a:pPr>
            <a:r>
              <a:rPr lang="en-US" sz="2900" b="1" dirty="0"/>
              <a:t>Rating Distribution:</a:t>
            </a:r>
          </a:p>
          <a:p>
            <a:pPr>
              <a:buFont typeface="Wingdings" pitchFamily="2" charset="2"/>
              <a:buChar char="v"/>
            </a:pPr>
            <a:r>
              <a:rPr lang="en-US" sz="2900" dirty="0"/>
              <a:t>A significant portion of employees are rated as Average (largest bar on the left) for both male and female employees.</a:t>
            </a:r>
          </a:p>
          <a:p>
            <a:pPr>
              <a:buFont typeface="Wingdings" pitchFamily="2" charset="2"/>
              <a:buChar char="v"/>
            </a:pPr>
            <a:r>
              <a:rPr lang="en-US" sz="2900" dirty="0"/>
              <a:t>Females tend to have slightly fewer “Good” ratings compared to males, but both genders have similar distributions in other rating categories.</a:t>
            </a:r>
          </a:p>
          <a:p>
            <a:pPr marL="0" indent="0">
              <a:buNone/>
            </a:pPr>
            <a:r>
              <a:rPr lang="en-US" sz="2900" b="1" dirty="0"/>
              <a:t>Employee Count by Rating:</a:t>
            </a:r>
          </a:p>
          <a:p>
            <a:pPr>
              <a:buFont typeface="Wingdings" pitchFamily="2" charset="2"/>
              <a:buChar char="v"/>
            </a:pPr>
            <a:r>
              <a:rPr lang="en-US" sz="2900" dirty="0"/>
              <a:t>Males have a slightly higher representation in the “Good” and “Very Good” ratings, which might indicate that they are evaluated more favorably.</a:t>
            </a:r>
          </a:p>
          <a:p>
            <a:pPr>
              <a:buFont typeface="Wingdings" pitchFamily="2" charset="2"/>
              <a:buChar char="v"/>
            </a:pPr>
            <a:r>
              <a:rPr lang="en-US" sz="2900" dirty="0"/>
              <a:t>Undisclosed gender employees are least represented in “Poor” and “Very Poor” categories.</a:t>
            </a:r>
          </a:p>
          <a:p>
            <a:pPr marL="0" indent="0">
              <a:buNone/>
            </a:pPr>
            <a:endParaRPr lang="en-US" dirty="0"/>
          </a:p>
          <a:p>
            <a:pPr marL="0" indent="0">
              <a:buNone/>
            </a:pPr>
            <a:r>
              <a:rPr lang="en-US" b="1" dirty="0" smtClean="0"/>
              <a:t>Refer to Performance Ratings By Gender charts in the next slide</a:t>
            </a:r>
            <a:endParaRPr lang="en-US" b="1" dirty="0"/>
          </a:p>
          <a:p>
            <a:endParaRPr lang="en-US" dirty="0"/>
          </a:p>
        </p:txBody>
      </p:sp>
    </p:spTree>
    <p:extLst>
      <p:ext uri="{BB962C8B-B14F-4D97-AF65-F5344CB8AC3E}">
        <p14:creationId xmlns:p14="http://schemas.microsoft.com/office/powerpoint/2010/main" val="1709455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305800" cy="838200"/>
          </a:xfrm>
        </p:spPr>
        <p:txBody>
          <a:bodyPr>
            <a:normAutofit/>
          </a:bodyPr>
          <a:lstStyle/>
          <a:p>
            <a:r>
              <a:rPr lang="en-US" sz="2400" b="1" dirty="0" smtClean="0"/>
              <a:t>Chart showing Gender Analysis by Ratings</a:t>
            </a:r>
            <a:endParaRPr lang="en-US" sz="2400" b="1"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5300" y="759124"/>
            <a:ext cx="8077200" cy="5717875"/>
          </a:xfrm>
        </p:spPr>
      </p:pic>
    </p:spTree>
    <p:extLst>
      <p:ext uri="{BB962C8B-B14F-4D97-AF65-F5344CB8AC3E}">
        <p14:creationId xmlns:p14="http://schemas.microsoft.com/office/powerpoint/2010/main" val="1930256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76200"/>
            <a:ext cx="8294914" cy="388257"/>
          </a:xfrm>
        </p:spPr>
        <p:txBody>
          <a:bodyPr>
            <a:normAutofit fontScale="90000"/>
          </a:bodyPr>
          <a:lstStyle/>
          <a:p>
            <a:r>
              <a:rPr lang="en-US" sz="2400" b="1" dirty="0" smtClean="0"/>
              <a:t> </a:t>
            </a:r>
            <a:r>
              <a:rPr lang="en-US" sz="2400" b="1" dirty="0"/>
              <a:t>GENDER PAY </a:t>
            </a:r>
            <a:r>
              <a:rPr lang="en-US" sz="2400" b="1" dirty="0" smtClean="0"/>
              <a:t>GAP ANALYSIS</a:t>
            </a:r>
            <a:endParaRPr lang="en-US" sz="2400" b="1" dirty="0"/>
          </a:p>
        </p:txBody>
      </p:sp>
      <p:sp>
        <p:nvSpPr>
          <p:cNvPr id="3" name="Content Placeholder 2"/>
          <p:cNvSpPr>
            <a:spLocks noGrp="1"/>
          </p:cNvSpPr>
          <p:nvPr>
            <p:ph idx="1"/>
          </p:nvPr>
        </p:nvSpPr>
        <p:spPr>
          <a:xfrm>
            <a:off x="152400" y="457200"/>
            <a:ext cx="8610600" cy="6172200"/>
          </a:xfrm>
        </p:spPr>
        <p:txBody>
          <a:bodyPr>
            <a:normAutofit fontScale="25000" lnSpcReduction="20000"/>
          </a:bodyPr>
          <a:lstStyle/>
          <a:p>
            <a:pPr marL="0" indent="0">
              <a:buNone/>
            </a:pPr>
            <a:endParaRPr lang="en-US" sz="8000" dirty="0"/>
          </a:p>
          <a:p>
            <a:pPr marL="0" indent="0">
              <a:buNone/>
            </a:pPr>
            <a:r>
              <a:rPr lang="en-US" sz="8000" b="1" dirty="0" smtClean="0"/>
              <a:t>1. Gender </a:t>
            </a:r>
            <a:r>
              <a:rPr lang="en-US" sz="8000" b="1" dirty="0"/>
              <a:t>Pay </a:t>
            </a:r>
            <a:r>
              <a:rPr lang="en-US" sz="8000" b="1" dirty="0" smtClean="0"/>
              <a:t>Gap:</a:t>
            </a:r>
            <a:endParaRPr lang="en-US" sz="8000" b="1" dirty="0"/>
          </a:p>
          <a:p>
            <a:pPr lvl="1">
              <a:buFont typeface="Wingdings" pitchFamily="2" charset="2"/>
              <a:buChar char="v"/>
            </a:pPr>
            <a:r>
              <a:rPr lang="en-US" sz="8000" dirty="0" smtClean="0"/>
              <a:t>Average </a:t>
            </a:r>
            <a:r>
              <a:rPr lang="en-US" sz="8000" dirty="0"/>
              <a:t>salary for females: $30M</a:t>
            </a:r>
          </a:p>
          <a:p>
            <a:pPr lvl="1">
              <a:buFont typeface="Wingdings" pitchFamily="2" charset="2"/>
              <a:buChar char="v"/>
            </a:pPr>
            <a:r>
              <a:rPr lang="en-US" sz="8000" dirty="0" smtClean="0"/>
              <a:t> </a:t>
            </a:r>
            <a:r>
              <a:rPr lang="en-US" sz="8000" dirty="0"/>
              <a:t>Average salary for undisclosed: $3M</a:t>
            </a:r>
          </a:p>
          <a:p>
            <a:pPr lvl="1">
              <a:buFont typeface="Wingdings" pitchFamily="2" charset="2"/>
              <a:buChar char="v"/>
            </a:pPr>
            <a:r>
              <a:rPr lang="en-US" sz="8000" dirty="0" smtClean="0"/>
              <a:t>Average </a:t>
            </a:r>
            <a:r>
              <a:rPr lang="en-US" sz="8000" dirty="0"/>
              <a:t>salary for males: $32  </a:t>
            </a:r>
          </a:p>
          <a:p>
            <a:pPr marL="457200" lvl="1" indent="0">
              <a:buNone/>
            </a:pPr>
            <a:r>
              <a:rPr lang="en-US" sz="8000" dirty="0"/>
              <a:t>Female average salary is substantially lower than that of the undisclosed group. Men’s salary data appears incomplete, but the disparity is clear and must be </a:t>
            </a:r>
            <a:r>
              <a:rPr lang="en-US" sz="8000" dirty="0" smtClean="0"/>
              <a:t>investigated</a:t>
            </a:r>
            <a:r>
              <a:rPr lang="en-US" sz="8000" dirty="0" smtClean="0"/>
              <a:t>.</a:t>
            </a:r>
          </a:p>
          <a:p>
            <a:pPr marL="457200" lvl="1" indent="0">
              <a:buNone/>
            </a:pPr>
            <a:endParaRPr lang="en-US" sz="8000" dirty="0" smtClean="0"/>
          </a:p>
          <a:p>
            <a:pPr marL="0" indent="0">
              <a:buNone/>
            </a:pPr>
            <a:r>
              <a:rPr lang="en-US" sz="8000" b="1" dirty="0" smtClean="0"/>
              <a:t>2.  Largest </a:t>
            </a:r>
            <a:r>
              <a:rPr lang="en-US" sz="8000" b="1" dirty="0"/>
              <a:t>Pay Gaps (Male Advantage):</a:t>
            </a:r>
            <a:endParaRPr lang="en-US" sz="8000" dirty="0"/>
          </a:p>
          <a:p>
            <a:pPr>
              <a:buFont typeface="Wingdings" pitchFamily="2" charset="2"/>
              <a:buChar char="v"/>
            </a:pPr>
            <a:r>
              <a:rPr lang="en-US" sz="8000" dirty="0"/>
              <a:t> </a:t>
            </a:r>
            <a:r>
              <a:rPr lang="en-US" sz="8000" dirty="0" smtClean="0"/>
              <a:t> </a:t>
            </a:r>
            <a:r>
              <a:rPr lang="en-US" sz="8000" dirty="0"/>
              <a:t>Legal &amp; Support: Largest gap of $0.8M (Male earns ~33% more in Legal).</a:t>
            </a:r>
          </a:p>
          <a:p>
            <a:pPr>
              <a:buFont typeface="Wingdings" pitchFamily="2" charset="2"/>
              <a:buChar char="v"/>
            </a:pPr>
            <a:r>
              <a:rPr lang="en-US" sz="8000" dirty="0"/>
              <a:t> </a:t>
            </a:r>
            <a:r>
              <a:rPr lang="en-US" sz="8000" dirty="0" smtClean="0"/>
              <a:t> </a:t>
            </a:r>
            <a:r>
              <a:rPr lang="en-US" sz="8000" dirty="0"/>
              <a:t>Accounting: Gap of $0.7M.</a:t>
            </a:r>
          </a:p>
          <a:p>
            <a:pPr>
              <a:buFont typeface="Wingdings" pitchFamily="2" charset="2"/>
              <a:buChar char="v"/>
            </a:pPr>
            <a:r>
              <a:rPr lang="en-US" sz="8000" dirty="0"/>
              <a:t>  </a:t>
            </a:r>
            <a:r>
              <a:rPr lang="en-US" sz="8000" dirty="0" smtClean="0"/>
              <a:t>Sales</a:t>
            </a:r>
            <a:r>
              <a:rPr lang="en-US" sz="8000" dirty="0"/>
              <a:t>: Gap of $0.5M</a:t>
            </a:r>
            <a:r>
              <a:rPr lang="en-US" sz="8000" dirty="0" smtClean="0"/>
              <a:t>.</a:t>
            </a:r>
          </a:p>
          <a:p>
            <a:pPr>
              <a:buFont typeface="Wingdings" pitchFamily="2" charset="2"/>
              <a:buChar char="v"/>
            </a:pPr>
            <a:endParaRPr lang="en-US" sz="8000" dirty="0"/>
          </a:p>
          <a:p>
            <a:pPr marL="0" indent="0">
              <a:buNone/>
            </a:pPr>
            <a:r>
              <a:rPr lang="en-US" sz="8000" b="1" dirty="0" smtClean="0"/>
              <a:t>3.  Pay </a:t>
            </a:r>
            <a:r>
              <a:rPr lang="en-US" sz="8000" b="1" dirty="0"/>
              <a:t>Parity/Reversal:</a:t>
            </a:r>
            <a:endParaRPr lang="en-US" sz="8000" dirty="0"/>
          </a:p>
          <a:p>
            <a:pPr>
              <a:buFont typeface="Wingdings" pitchFamily="2" charset="2"/>
              <a:buChar char="v"/>
            </a:pPr>
            <a:r>
              <a:rPr lang="en-US" sz="8000" dirty="0"/>
              <a:t>  </a:t>
            </a:r>
            <a:r>
              <a:rPr lang="en-US" sz="8000" dirty="0" smtClean="0"/>
              <a:t>Engineering </a:t>
            </a:r>
            <a:r>
              <a:rPr lang="en-US" sz="8000" dirty="0"/>
              <a:t>shows perfect parity ($2.6M for both).</a:t>
            </a:r>
          </a:p>
          <a:p>
            <a:pPr>
              <a:buFont typeface="Wingdings" pitchFamily="2" charset="2"/>
              <a:buChar char="v"/>
            </a:pPr>
            <a:r>
              <a:rPr lang="en-US" sz="8000" dirty="0"/>
              <a:t>  </a:t>
            </a:r>
            <a:r>
              <a:rPr lang="en-US" sz="8000" dirty="0" smtClean="0"/>
              <a:t>Business </a:t>
            </a:r>
            <a:r>
              <a:rPr lang="en-US" sz="8000" dirty="0"/>
              <a:t>Development, HR, and Services show a reverse gap of $0.3-0.4M in favor of women.</a:t>
            </a:r>
          </a:p>
          <a:p>
            <a:pPr marL="457200" lvl="1" indent="0">
              <a:buNone/>
            </a:pPr>
            <a:endParaRPr lang="en-US" sz="8000" dirty="0" smtClean="0"/>
          </a:p>
          <a:p>
            <a:pPr marL="457200" lvl="1" indent="0">
              <a:buNone/>
            </a:pPr>
            <a:r>
              <a:rPr lang="en-US" sz="8000" b="1" dirty="0" smtClean="0"/>
              <a:t>Refer </a:t>
            </a:r>
            <a:r>
              <a:rPr lang="en-US" sz="8000" b="1" dirty="0" smtClean="0"/>
              <a:t>to the next slide for Gender Pay Gap Analysis charts</a:t>
            </a:r>
          </a:p>
        </p:txBody>
      </p:sp>
    </p:spTree>
    <p:extLst>
      <p:ext uri="{BB962C8B-B14F-4D97-AF65-F5344CB8AC3E}">
        <p14:creationId xmlns:p14="http://schemas.microsoft.com/office/powerpoint/2010/main" val="2092041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800" b="1" dirty="0" smtClean="0"/>
              <a:t>Charts showing Gender Pay Gap Analysis</a:t>
            </a:r>
            <a:endParaRPr lang="en-US" sz="2800" b="1"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4587" y="914400"/>
            <a:ext cx="8502213" cy="5334000"/>
          </a:xfrm>
        </p:spPr>
      </p:pic>
    </p:spTree>
    <p:extLst>
      <p:ext uri="{BB962C8B-B14F-4D97-AF65-F5344CB8AC3E}">
        <p14:creationId xmlns:p14="http://schemas.microsoft.com/office/powerpoint/2010/main" val="4193625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
            <a:ext cx="7848600" cy="457200"/>
          </a:xfrm>
        </p:spPr>
        <p:txBody>
          <a:bodyPr>
            <a:noAutofit/>
          </a:bodyPr>
          <a:lstStyle/>
          <a:p>
            <a:r>
              <a:rPr lang="en-US" sz="2400" b="1" dirty="0" smtClean="0"/>
              <a:t/>
            </a:r>
            <a:br>
              <a:rPr lang="en-US" sz="2400" b="1" dirty="0" smtClean="0"/>
            </a:br>
            <a:r>
              <a:rPr lang="en-US" sz="2400" b="1" dirty="0" smtClean="0"/>
              <a:t/>
            </a:r>
            <a:br>
              <a:rPr lang="en-US" sz="2400" b="1" dirty="0" smtClean="0"/>
            </a:br>
            <a:r>
              <a:rPr lang="en-US" sz="2400" b="1" dirty="0" smtClean="0"/>
              <a:t>MINIMUM </a:t>
            </a:r>
            <a:r>
              <a:rPr lang="en-US" sz="2400" b="1" dirty="0"/>
              <a:t>SALARY COMPLIANCE ($90,000)</a:t>
            </a:r>
            <a:br>
              <a:rPr lang="en-US" sz="2400" b="1" dirty="0"/>
            </a:br>
            <a:endParaRPr lang="en-US" sz="2400" b="1" dirty="0"/>
          </a:p>
        </p:txBody>
      </p:sp>
      <p:sp>
        <p:nvSpPr>
          <p:cNvPr id="3" name="Content Placeholder 2"/>
          <p:cNvSpPr>
            <a:spLocks noGrp="1"/>
          </p:cNvSpPr>
          <p:nvPr>
            <p:ph idx="1"/>
          </p:nvPr>
        </p:nvSpPr>
        <p:spPr>
          <a:xfrm>
            <a:off x="381000" y="762000"/>
            <a:ext cx="8458200" cy="5867400"/>
          </a:xfrm>
        </p:spPr>
        <p:txBody>
          <a:bodyPr>
            <a:normAutofit fontScale="77500" lnSpcReduction="20000"/>
          </a:bodyPr>
          <a:lstStyle/>
          <a:p>
            <a:pPr marL="0" indent="0">
              <a:buNone/>
            </a:pPr>
            <a:endParaRPr lang="en-US" b="1" dirty="0" smtClean="0"/>
          </a:p>
          <a:p>
            <a:pPr marL="0" indent="0" algn="ctr">
              <a:buNone/>
            </a:pPr>
            <a:r>
              <a:rPr lang="en-US" sz="2900" b="1" dirty="0" smtClean="0"/>
              <a:t>Key </a:t>
            </a:r>
            <a:r>
              <a:rPr lang="en-US" sz="2900" b="1" dirty="0"/>
              <a:t>Insights</a:t>
            </a:r>
          </a:p>
          <a:p>
            <a:pPr>
              <a:buFont typeface="Wingdings" pitchFamily="2" charset="2"/>
              <a:buChar char="v"/>
            </a:pPr>
            <a:r>
              <a:rPr lang="en-US" sz="2900" dirty="0" smtClean="0"/>
              <a:t>31.46% (240 employees) earn below $90,000, indicating non-compliance with the minimum wage regulation.</a:t>
            </a:r>
          </a:p>
          <a:p>
            <a:pPr>
              <a:buFont typeface="Wingdings" pitchFamily="2" charset="2"/>
              <a:buChar char="v"/>
            </a:pPr>
            <a:r>
              <a:rPr lang="en-US" sz="2900" dirty="0" smtClean="0"/>
              <a:t>Only 68.4% (524 </a:t>
            </a:r>
            <a:r>
              <a:rPr lang="en-US" sz="2900" dirty="0"/>
              <a:t>employees) meet or exceed the required wage </a:t>
            </a:r>
            <a:r>
              <a:rPr lang="en-US" sz="2900" dirty="0" smtClean="0"/>
              <a:t>level.</a:t>
            </a:r>
            <a:endParaRPr lang="en-US" sz="2900" dirty="0"/>
          </a:p>
          <a:p>
            <a:pPr>
              <a:buFont typeface="Wingdings" pitchFamily="2" charset="2"/>
              <a:buChar char="v"/>
            </a:pPr>
            <a:r>
              <a:rPr lang="en-US" sz="2900" dirty="0"/>
              <a:t>Kaduna and Abuja account for the highest concentration of employees, especially </a:t>
            </a:r>
            <a:r>
              <a:rPr lang="en-US" sz="2900"/>
              <a:t>in </a:t>
            </a:r>
            <a:r>
              <a:rPr lang="en-US" sz="2900" smtClean="0"/>
              <a:t>$90,000 </a:t>
            </a:r>
            <a:r>
              <a:rPr lang="en-US" sz="2900" dirty="0"/>
              <a:t>salary </a:t>
            </a:r>
            <a:r>
              <a:rPr lang="en-US" sz="2900" dirty="0" smtClean="0"/>
              <a:t>bands</a:t>
            </a:r>
          </a:p>
          <a:p>
            <a:pPr>
              <a:buFont typeface="Wingdings" pitchFamily="2" charset="2"/>
              <a:buChar char="v"/>
            </a:pPr>
            <a:r>
              <a:rPr lang="en-US" sz="2900" dirty="0" smtClean="0"/>
              <a:t>$70,000–$79,999 is the most populated salary band, sitting just below compliance threshold</a:t>
            </a:r>
          </a:p>
          <a:p>
            <a:pPr>
              <a:buFont typeface="Wingdings" pitchFamily="2" charset="2"/>
              <a:buChar char="v"/>
            </a:pPr>
            <a:r>
              <a:rPr lang="en-US" sz="2900" dirty="0" smtClean="0"/>
              <a:t>Kaduna poses the highest compliance risk due to large workforce volume in lower pay bands</a:t>
            </a:r>
          </a:p>
          <a:p>
            <a:pPr>
              <a:buFont typeface="Wingdings" pitchFamily="2" charset="2"/>
              <a:buChar char="v"/>
            </a:pPr>
            <a:endParaRPr lang="en-US" sz="2900" dirty="0" smtClean="0"/>
          </a:p>
          <a:p>
            <a:pPr marL="0" indent="0">
              <a:buNone/>
            </a:pPr>
            <a:endParaRPr lang="en-US" sz="2900" dirty="0" smtClean="0"/>
          </a:p>
          <a:p>
            <a:pPr>
              <a:buFont typeface="Wingdings" pitchFamily="2" charset="2"/>
              <a:buChar char="v"/>
            </a:pPr>
            <a:endParaRPr lang="en-US" sz="2900" dirty="0"/>
          </a:p>
          <a:p>
            <a:pPr marL="0" indent="0">
              <a:buNone/>
            </a:pPr>
            <a:r>
              <a:rPr lang="en-US" sz="2900" b="1" dirty="0" smtClean="0"/>
              <a:t>Refer to </a:t>
            </a:r>
            <a:r>
              <a:rPr lang="en-US" sz="2900" b="1" dirty="0"/>
              <a:t>MINIMUM SALARY COMPLIANCE ($90,000</a:t>
            </a:r>
            <a:r>
              <a:rPr lang="en-US" sz="2900" b="1" dirty="0" smtClean="0"/>
              <a:t>) on the next slide</a:t>
            </a:r>
            <a:r>
              <a:rPr lang="en-US" sz="2900" b="1" dirty="0"/>
              <a:t/>
            </a:r>
            <a:br>
              <a:rPr lang="en-US" sz="2900" b="1" dirty="0"/>
            </a:br>
            <a:endParaRPr lang="en-US" sz="2900" dirty="0"/>
          </a:p>
          <a:p>
            <a:endParaRPr lang="en-US" sz="2900" dirty="0"/>
          </a:p>
        </p:txBody>
      </p:sp>
    </p:spTree>
    <p:extLst>
      <p:ext uri="{BB962C8B-B14F-4D97-AF65-F5344CB8AC3E}">
        <p14:creationId xmlns:p14="http://schemas.microsoft.com/office/powerpoint/2010/main" val="2997033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001000" cy="609600"/>
          </a:xfrm>
        </p:spPr>
        <p:txBody>
          <a:bodyPr>
            <a:noAutofit/>
          </a:bodyPr>
          <a:lstStyle/>
          <a:p>
            <a:r>
              <a:rPr lang="en-US" sz="2400" b="1" dirty="0" smtClean="0"/>
              <a:t>SALARY </a:t>
            </a:r>
            <a:r>
              <a:rPr lang="en-US" sz="2400" b="1" dirty="0"/>
              <a:t>BAND DISTRIBUTION</a:t>
            </a:r>
            <a:br>
              <a:rPr lang="en-US" sz="2400" b="1" dirty="0"/>
            </a:br>
            <a:endParaRPr lang="en-US" sz="2400" b="1" dirty="0"/>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4800" y="685801"/>
            <a:ext cx="8382000" cy="5867400"/>
          </a:xfrm>
        </p:spPr>
      </p:pic>
    </p:spTree>
    <p:extLst>
      <p:ext uri="{BB962C8B-B14F-4D97-AF65-F5344CB8AC3E}">
        <p14:creationId xmlns:p14="http://schemas.microsoft.com/office/powerpoint/2010/main" val="3905668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305800" cy="609600"/>
          </a:xfrm>
        </p:spPr>
        <p:txBody>
          <a:bodyPr>
            <a:noAutofit/>
          </a:bodyPr>
          <a:lstStyle/>
          <a:p>
            <a:r>
              <a:rPr lang="en-US" sz="2400" b="1" dirty="0"/>
              <a:t>BONUS &amp; TOTAL </a:t>
            </a:r>
            <a:r>
              <a:rPr lang="en-US" sz="2400" b="1" dirty="0" smtClean="0"/>
              <a:t>COMPENSATION ANALYSIS</a:t>
            </a:r>
            <a:endParaRPr lang="en-US" sz="2400" b="1" dirty="0"/>
          </a:p>
        </p:txBody>
      </p:sp>
      <p:sp>
        <p:nvSpPr>
          <p:cNvPr id="3" name="Content Placeholder 2"/>
          <p:cNvSpPr>
            <a:spLocks noGrp="1"/>
          </p:cNvSpPr>
          <p:nvPr>
            <p:ph idx="1"/>
          </p:nvPr>
        </p:nvSpPr>
        <p:spPr>
          <a:xfrm>
            <a:off x="228600" y="533400"/>
            <a:ext cx="8458200" cy="6172200"/>
          </a:xfrm>
        </p:spPr>
        <p:txBody>
          <a:bodyPr>
            <a:noAutofit/>
          </a:bodyPr>
          <a:lstStyle/>
          <a:p>
            <a:pPr marL="0" indent="0" algn="ctr">
              <a:buNone/>
            </a:pPr>
            <a:r>
              <a:rPr lang="en-US" sz="1600" b="1" dirty="0" smtClean="0"/>
              <a:t>Bonus </a:t>
            </a:r>
            <a:r>
              <a:rPr lang="en-US" sz="1600" b="1" dirty="0"/>
              <a:t>Calculation Approach</a:t>
            </a:r>
            <a:endParaRPr lang="en-US" sz="1600" dirty="0"/>
          </a:p>
          <a:p>
            <a:pPr>
              <a:buFont typeface="Wingdings" pitchFamily="2" charset="2"/>
              <a:buChar char="v"/>
            </a:pPr>
            <a:r>
              <a:rPr lang="en-US" sz="1600" dirty="0"/>
              <a:t>Bonuses calculated based on each  employee’s performance </a:t>
            </a:r>
            <a:r>
              <a:rPr lang="en-US" sz="1600" dirty="0" smtClean="0"/>
              <a:t>ratings</a:t>
            </a:r>
            <a:endParaRPr lang="en-US" sz="1600" dirty="0"/>
          </a:p>
          <a:p>
            <a:pPr>
              <a:buFont typeface="Wingdings" pitchFamily="2" charset="2"/>
              <a:buChar char="v"/>
            </a:pPr>
            <a:r>
              <a:rPr lang="en-US" sz="1600" b="1" dirty="0"/>
              <a:t>Bonus Amount </a:t>
            </a:r>
            <a:r>
              <a:rPr lang="en-US" sz="1600" dirty="0"/>
              <a:t>= Base Salary × Bonus </a:t>
            </a:r>
            <a:r>
              <a:rPr lang="en-US" sz="1600" dirty="0" smtClean="0"/>
              <a:t>Percentage</a:t>
            </a:r>
          </a:p>
          <a:p>
            <a:pPr>
              <a:buFont typeface="Wingdings" pitchFamily="2" charset="2"/>
              <a:buChar char="v"/>
            </a:pPr>
            <a:r>
              <a:rPr lang="en-US" sz="1600" dirty="0" smtClean="0"/>
              <a:t>Employees </a:t>
            </a:r>
            <a:r>
              <a:rPr lang="en-US" sz="1600" dirty="0"/>
              <a:t>with similar ratings earn different bonuses due to salary </a:t>
            </a:r>
            <a:r>
              <a:rPr lang="en-US" sz="1600" dirty="0" smtClean="0"/>
              <a:t>differences</a:t>
            </a:r>
          </a:p>
          <a:p>
            <a:pPr>
              <a:buFont typeface="Wingdings" pitchFamily="2" charset="2"/>
              <a:buChar char="v"/>
            </a:pPr>
            <a:r>
              <a:rPr lang="en-US" sz="1600" b="1" dirty="0" smtClean="0"/>
              <a:t>Total pay </a:t>
            </a:r>
            <a:r>
              <a:rPr lang="en-US" sz="1600" dirty="0" smtClean="0"/>
              <a:t>= Salary + Bonus</a:t>
            </a:r>
            <a:endParaRPr lang="en-US" sz="1600" b="1" dirty="0"/>
          </a:p>
          <a:p>
            <a:pPr marL="0" indent="0" algn="ctr">
              <a:buNone/>
            </a:pPr>
            <a:r>
              <a:rPr lang="en-US" sz="1600" b="1" dirty="0" smtClean="0"/>
              <a:t>Key </a:t>
            </a:r>
            <a:r>
              <a:rPr lang="en-US" sz="1600" b="1" dirty="0"/>
              <a:t>Statistical </a:t>
            </a:r>
            <a:r>
              <a:rPr lang="en-US" sz="1600" b="1" dirty="0" smtClean="0"/>
              <a:t>Insights</a:t>
            </a:r>
          </a:p>
          <a:p>
            <a:pPr>
              <a:buFont typeface="Wingdings" pitchFamily="2" charset="2"/>
              <a:buChar char="v"/>
            </a:pPr>
            <a:r>
              <a:rPr lang="en-US" sz="1600" b="1" dirty="0"/>
              <a:t>Total bonus paid: </a:t>
            </a:r>
            <a:r>
              <a:rPr lang="en-US" sz="1600" dirty="0"/>
              <a:t>$</a:t>
            </a:r>
            <a:r>
              <a:rPr lang="en-US" sz="1600" dirty="0" smtClean="0"/>
              <a:t>1.78B</a:t>
            </a:r>
            <a:endParaRPr lang="en-US" sz="1600" dirty="0"/>
          </a:p>
          <a:p>
            <a:pPr>
              <a:buFont typeface="Wingdings" pitchFamily="2" charset="2"/>
              <a:buChar char="v"/>
            </a:pPr>
            <a:r>
              <a:rPr lang="en-US" sz="1600" b="1" dirty="0"/>
              <a:t>Total payroll (including bonus): </a:t>
            </a:r>
            <a:r>
              <a:rPr lang="en-US" sz="1600" dirty="0"/>
              <a:t>$</a:t>
            </a:r>
            <a:r>
              <a:rPr lang="en-US" sz="1600" dirty="0" smtClean="0"/>
              <a:t>58.17B</a:t>
            </a:r>
            <a:endParaRPr lang="en-US" sz="1600" b="1" dirty="0"/>
          </a:p>
          <a:p>
            <a:pPr marL="0" indent="0" algn="ctr">
              <a:buNone/>
            </a:pPr>
            <a:r>
              <a:rPr lang="en-US" sz="1600" b="1" dirty="0" smtClean="0"/>
              <a:t>Bonus </a:t>
            </a:r>
            <a:r>
              <a:rPr lang="en-US" sz="1600" b="1" dirty="0"/>
              <a:t>Allocation by </a:t>
            </a:r>
            <a:r>
              <a:rPr lang="en-US" sz="1600" b="1" dirty="0" smtClean="0"/>
              <a:t>Location</a:t>
            </a:r>
            <a:endParaRPr lang="en-US" sz="1600" dirty="0"/>
          </a:p>
          <a:p>
            <a:pPr>
              <a:buFont typeface="Wingdings" pitchFamily="2" charset="2"/>
              <a:buChar char="v"/>
            </a:pPr>
            <a:r>
              <a:rPr lang="en-US" sz="1600" b="1" dirty="0"/>
              <a:t>Kaduna: </a:t>
            </a:r>
            <a:r>
              <a:rPr lang="en-US" sz="1600" dirty="0" smtClean="0"/>
              <a:t>$684.51 </a:t>
            </a:r>
            <a:r>
              <a:rPr lang="en-US" sz="1600" dirty="0"/>
              <a:t>(Highest bonus allocation)</a:t>
            </a:r>
          </a:p>
          <a:p>
            <a:pPr>
              <a:buFont typeface="Wingdings" pitchFamily="2" charset="2"/>
              <a:buChar char="v"/>
            </a:pPr>
            <a:r>
              <a:rPr lang="en-US" sz="1600" b="1" dirty="0"/>
              <a:t>Abuja: </a:t>
            </a:r>
            <a:r>
              <a:rPr lang="en-US" sz="1600" dirty="0" smtClean="0"/>
              <a:t>$617.48M</a:t>
            </a:r>
            <a:endParaRPr lang="en-US" sz="1600" dirty="0"/>
          </a:p>
          <a:p>
            <a:pPr>
              <a:buFont typeface="Wingdings" pitchFamily="2" charset="2"/>
              <a:buChar char="v"/>
            </a:pPr>
            <a:r>
              <a:rPr lang="en-US" sz="1600" b="1" dirty="0"/>
              <a:t>Lagos: </a:t>
            </a:r>
            <a:r>
              <a:rPr lang="en-US" sz="1600" dirty="0" smtClean="0"/>
              <a:t>$472.27M </a:t>
            </a:r>
            <a:r>
              <a:rPr lang="en-US" sz="1600" dirty="0"/>
              <a:t>(Lowest bonus allocation</a:t>
            </a:r>
            <a:r>
              <a:rPr lang="en-US" sz="1600" dirty="0" smtClean="0"/>
              <a:t>)</a:t>
            </a:r>
            <a:endParaRPr lang="en-US" sz="1600" dirty="0"/>
          </a:p>
          <a:p>
            <a:pPr marL="0" indent="0" algn="ctr">
              <a:buNone/>
            </a:pPr>
            <a:r>
              <a:rPr lang="en-US" sz="1600" b="1" dirty="0"/>
              <a:t>Performance </a:t>
            </a:r>
            <a:r>
              <a:rPr lang="en-US" sz="1600" b="1" dirty="0" smtClean="0"/>
              <a:t>and </a:t>
            </a:r>
            <a:r>
              <a:rPr lang="en-US" sz="1600" b="1" dirty="0"/>
              <a:t>Bonus Pattern</a:t>
            </a:r>
          </a:p>
          <a:p>
            <a:pPr>
              <a:buFont typeface="Wingdings" pitchFamily="2" charset="2"/>
              <a:buChar char="v"/>
            </a:pPr>
            <a:r>
              <a:rPr lang="en-US" sz="1600" dirty="0"/>
              <a:t>Bonus payments are directly tied to performance ratings</a:t>
            </a:r>
          </a:p>
          <a:p>
            <a:pPr>
              <a:buFont typeface="Wingdings" pitchFamily="2" charset="2"/>
              <a:buChar char="v"/>
            </a:pPr>
            <a:r>
              <a:rPr lang="en-US" sz="1600" dirty="0"/>
              <a:t>Majority of employees shown fall under “Average” rating</a:t>
            </a:r>
          </a:p>
          <a:p>
            <a:pPr>
              <a:buFont typeface="Wingdings" pitchFamily="2" charset="2"/>
              <a:buChar char="v"/>
            </a:pPr>
            <a:r>
              <a:rPr lang="en-US" sz="1600" dirty="0"/>
              <a:t>Despite similar ratings, bonus distribution varies by location, indicating workforce size and salary differences.</a:t>
            </a:r>
          </a:p>
          <a:p>
            <a:pPr marL="0" indent="0">
              <a:buNone/>
            </a:pPr>
            <a:r>
              <a:rPr lang="en-US" sz="1600" b="1" dirty="0"/>
              <a:t>Refer to Bonus </a:t>
            </a:r>
            <a:r>
              <a:rPr lang="en-US" sz="1600" b="1" dirty="0" smtClean="0"/>
              <a:t>and </a:t>
            </a:r>
            <a:r>
              <a:rPr lang="en-US" sz="1600" b="1" dirty="0"/>
              <a:t>Total Compensation charts on the next slide</a:t>
            </a:r>
          </a:p>
          <a:p>
            <a:pPr marL="0" indent="0">
              <a:buNone/>
            </a:pPr>
            <a:endParaRPr lang="en-US" sz="1600" dirty="0"/>
          </a:p>
          <a:p>
            <a:pPr marL="0" indent="0">
              <a:buNone/>
            </a:pPr>
            <a:endParaRPr lang="en-US" sz="1600" dirty="0"/>
          </a:p>
          <a:p>
            <a:pPr marL="0" indent="0">
              <a:buNone/>
            </a:pPr>
            <a:endParaRPr lang="en-US" sz="1600" dirty="0" smtClean="0"/>
          </a:p>
          <a:p>
            <a:pPr marL="0" indent="0">
              <a:buNone/>
            </a:pPr>
            <a:endParaRPr lang="en-US" sz="1600" dirty="0"/>
          </a:p>
          <a:p>
            <a:pPr marL="0" indent="0">
              <a:buNone/>
            </a:pPr>
            <a:endParaRPr lang="en-US" sz="1600" dirty="0" smtClean="0"/>
          </a:p>
          <a:p>
            <a:pPr marL="0" indent="0">
              <a:buNone/>
            </a:pPr>
            <a:endParaRPr lang="en-US" sz="1600" dirty="0" smtClean="0"/>
          </a:p>
          <a:p>
            <a:endParaRPr lang="en-US" sz="1200" dirty="0"/>
          </a:p>
        </p:txBody>
      </p:sp>
    </p:spTree>
    <p:extLst>
      <p:ext uri="{BB962C8B-B14F-4D97-AF65-F5344CB8AC3E}">
        <p14:creationId xmlns:p14="http://schemas.microsoft.com/office/powerpoint/2010/main" val="525243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382000" cy="762000"/>
          </a:xfrm>
        </p:spPr>
        <p:txBody>
          <a:bodyPr>
            <a:noAutofit/>
          </a:bodyPr>
          <a:lstStyle/>
          <a:p>
            <a:r>
              <a:rPr lang="en-US" sz="2400" b="1" dirty="0" smtClean="0"/>
              <a:t>CHARTS SHOWING BONUS AND TOTAL COMPENSATION ANALYSIS</a:t>
            </a:r>
            <a:endParaRPr lang="en-US" sz="2400" b="1" dirty="0"/>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85383" y="990600"/>
            <a:ext cx="8173234" cy="5410200"/>
          </a:xfrm>
        </p:spPr>
      </p:pic>
    </p:spTree>
    <p:extLst>
      <p:ext uri="{BB962C8B-B14F-4D97-AF65-F5344CB8AC3E}">
        <p14:creationId xmlns:p14="http://schemas.microsoft.com/office/powerpoint/2010/main" val="4030645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400" b="1" dirty="0" smtClean="0"/>
              <a:t/>
            </a:r>
            <a:br>
              <a:rPr lang="en-US" sz="2400" b="1" dirty="0" smtClean="0"/>
            </a:br>
            <a:r>
              <a:rPr lang="en-US" sz="2400" b="1" dirty="0" smtClean="0"/>
              <a:t>Dashboard For Gender </a:t>
            </a:r>
            <a:r>
              <a:rPr lang="en-US" sz="2400" b="1" dirty="0"/>
              <a:t>Equality </a:t>
            </a:r>
            <a:r>
              <a:rPr lang="en-US" sz="2400" b="1" dirty="0" smtClean="0"/>
              <a:t>and </a:t>
            </a:r>
            <a:r>
              <a:rPr lang="en-US" sz="2400" b="1" dirty="0"/>
              <a:t>Compensation Analysis</a:t>
            </a:r>
            <a:br>
              <a:rPr lang="en-US" sz="2400" b="1" dirty="0"/>
            </a:br>
            <a:endParaRPr lang="en-US" sz="2400" b="1" dirty="0"/>
          </a:p>
        </p:txBody>
      </p:sp>
      <p:pic>
        <p:nvPicPr>
          <p:cNvPr id="9" name="Content Placeholder 8"/>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4800" y="653344"/>
            <a:ext cx="8382000" cy="5976055"/>
          </a:xfrm>
        </p:spPr>
      </p:pic>
    </p:spTree>
    <p:extLst>
      <p:ext uri="{BB962C8B-B14F-4D97-AF65-F5344CB8AC3E}">
        <p14:creationId xmlns:p14="http://schemas.microsoft.com/office/powerpoint/2010/main" val="3453899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33400"/>
          </a:xfrm>
        </p:spPr>
        <p:txBody>
          <a:bodyPr>
            <a:normAutofit/>
          </a:bodyPr>
          <a:lstStyle/>
          <a:p>
            <a:r>
              <a:rPr lang="en-US" sz="2400" b="1" dirty="0" smtClean="0"/>
              <a:t>Key </a:t>
            </a:r>
            <a:r>
              <a:rPr lang="en-US" sz="2400" b="1" dirty="0"/>
              <a:t>Insights from the Dashboard (What the Data Says)</a:t>
            </a:r>
          </a:p>
        </p:txBody>
      </p:sp>
      <p:sp>
        <p:nvSpPr>
          <p:cNvPr id="3" name="Content Placeholder 2"/>
          <p:cNvSpPr>
            <a:spLocks noGrp="1"/>
          </p:cNvSpPr>
          <p:nvPr>
            <p:ph idx="1"/>
          </p:nvPr>
        </p:nvSpPr>
        <p:spPr>
          <a:xfrm>
            <a:off x="304800" y="685800"/>
            <a:ext cx="8382000" cy="5440363"/>
          </a:xfrm>
        </p:spPr>
        <p:txBody>
          <a:bodyPr>
            <a:normAutofit fontScale="25000" lnSpcReduction="20000"/>
          </a:bodyPr>
          <a:lstStyle/>
          <a:p>
            <a:pPr marL="0" indent="0">
              <a:buNone/>
            </a:pPr>
            <a:endParaRPr lang="en-US" dirty="0"/>
          </a:p>
          <a:p>
            <a:pPr marL="0" indent="0">
              <a:buNone/>
            </a:pPr>
            <a:r>
              <a:rPr lang="en-US" sz="8000" b="1" dirty="0"/>
              <a:t>1</a:t>
            </a:r>
            <a:r>
              <a:rPr lang="en-US" sz="8000" b="1" dirty="0" smtClean="0"/>
              <a:t>. Workforce </a:t>
            </a:r>
            <a:r>
              <a:rPr lang="en-US" sz="8000" b="1" dirty="0"/>
              <a:t>&amp; Gender </a:t>
            </a:r>
            <a:r>
              <a:rPr lang="en-US" sz="8000" b="1" dirty="0" smtClean="0"/>
              <a:t>Distribution</a:t>
            </a:r>
          </a:p>
          <a:p>
            <a:pPr lvl="1">
              <a:buFont typeface="Wingdings" pitchFamily="2" charset="2"/>
              <a:buChar char="v"/>
            </a:pPr>
            <a:r>
              <a:rPr lang="en-US" sz="8000" dirty="0" smtClean="0"/>
              <a:t> Palmoria </a:t>
            </a:r>
            <a:r>
              <a:rPr lang="en-US" sz="8000" dirty="0"/>
              <a:t>has 763,876 </a:t>
            </a:r>
            <a:r>
              <a:rPr lang="en-US" sz="8000" dirty="0" smtClean="0"/>
              <a:t>employees</a:t>
            </a:r>
            <a:endParaRPr lang="en-US" sz="8000" dirty="0"/>
          </a:p>
          <a:p>
            <a:pPr lvl="1">
              <a:buFont typeface="Wingdings" pitchFamily="2" charset="2"/>
              <a:buChar char="v"/>
            </a:pPr>
            <a:r>
              <a:rPr lang="en-US" sz="8000" dirty="0" smtClean="0"/>
              <a:t>Workforce </a:t>
            </a:r>
            <a:r>
              <a:rPr lang="en-US" sz="8000" dirty="0"/>
              <a:t>is male-dominated (~49%), with females at ~46% and 4% </a:t>
            </a:r>
            <a:r>
              <a:rPr lang="en-US" sz="8000" dirty="0" smtClean="0"/>
              <a:t>undisclosed</a:t>
            </a:r>
          </a:p>
          <a:p>
            <a:pPr lvl="1">
              <a:buFont typeface="Wingdings" pitchFamily="2" charset="2"/>
              <a:buChar char="v"/>
            </a:pPr>
            <a:r>
              <a:rPr lang="en-US" sz="8000" dirty="0" smtClean="0"/>
              <a:t>Gender </a:t>
            </a:r>
            <a:r>
              <a:rPr lang="en-US" sz="8000" dirty="0"/>
              <a:t>imbalance persists across regions and departments, especially in technical roles</a:t>
            </a:r>
          </a:p>
          <a:p>
            <a:pPr marL="0" indent="0">
              <a:buNone/>
            </a:pPr>
            <a:r>
              <a:rPr lang="en-US" sz="8000" b="1" dirty="0" smtClean="0"/>
              <a:t> NOTE:</a:t>
            </a:r>
            <a:r>
              <a:rPr lang="en-US" sz="8000" dirty="0"/>
              <a:t> </a:t>
            </a:r>
            <a:r>
              <a:rPr lang="en-US" sz="8000" dirty="0" smtClean="0"/>
              <a:t>Although </a:t>
            </a:r>
            <a:r>
              <a:rPr lang="en-US" sz="8000" dirty="0"/>
              <a:t>gender representation appears close numerically, distribution across departments and pay outcomes reveals inequality</a:t>
            </a:r>
            <a:r>
              <a:rPr lang="en-US" sz="8000" dirty="0" smtClean="0"/>
              <a:t>.</a:t>
            </a:r>
          </a:p>
          <a:p>
            <a:pPr marL="0" indent="0">
              <a:buNone/>
            </a:pPr>
            <a:endParaRPr lang="en-US" sz="8000" dirty="0" smtClean="0"/>
          </a:p>
          <a:p>
            <a:pPr marL="0" indent="0">
              <a:buNone/>
            </a:pPr>
            <a:r>
              <a:rPr lang="en-US" sz="8000" b="1" dirty="0" smtClean="0"/>
              <a:t>2. Performance </a:t>
            </a:r>
            <a:r>
              <a:rPr lang="en-US" sz="8000" b="1" dirty="0"/>
              <a:t>Ratings</a:t>
            </a:r>
          </a:p>
          <a:p>
            <a:pPr lvl="1">
              <a:buFont typeface="Wingdings" pitchFamily="2" charset="2"/>
              <a:buChar char="v"/>
            </a:pPr>
            <a:r>
              <a:rPr lang="en-US" sz="8000" dirty="0"/>
              <a:t>Majority of employees fall under Average and Good ratings</a:t>
            </a:r>
          </a:p>
          <a:p>
            <a:pPr lvl="1">
              <a:buFont typeface="Wingdings" pitchFamily="2" charset="2"/>
              <a:buChar char="v"/>
            </a:pPr>
            <a:r>
              <a:rPr lang="en-US" sz="8000" dirty="0"/>
              <a:t>Male employees dominate higher ratings</a:t>
            </a:r>
          </a:p>
          <a:p>
            <a:pPr lvl="1">
              <a:buFont typeface="Wingdings" pitchFamily="2" charset="2"/>
              <a:buChar char="v"/>
            </a:pPr>
            <a:r>
              <a:rPr lang="en-US" sz="8000" dirty="0"/>
              <a:t>Female employees cluster more around Average ratings</a:t>
            </a:r>
          </a:p>
          <a:p>
            <a:pPr marL="0" indent="0">
              <a:buNone/>
            </a:pPr>
            <a:r>
              <a:rPr lang="en-US" sz="8000" b="1" dirty="0" smtClean="0"/>
              <a:t>NOTE:</a:t>
            </a:r>
            <a:r>
              <a:rPr lang="en-US" sz="8000" b="1" dirty="0"/>
              <a:t> </a:t>
            </a:r>
            <a:r>
              <a:rPr lang="en-US" sz="8000" dirty="0" smtClean="0"/>
              <a:t>Since </a:t>
            </a:r>
            <a:r>
              <a:rPr lang="en-US" sz="8000" dirty="0"/>
              <a:t>bonuses are rating-based, even slight rating imbalances translate into income inequality</a:t>
            </a:r>
            <a:r>
              <a:rPr lang="en-US" sz="8000" dirty="0" smtClean="0"/>
              <a:t>.</a:t>
            </a:r>
          </a:p>
          <a:p>
            <a:pPr marL="0" indent="0">
              <a:buNone/>
            </a:pPr>
            <a:endParaRPr lang="en-US" sz="8000" dirty="0"/>
          </a:p>
        </p:txBody>
      </p:sp>
    </p:spTree>
    <p:extLst>
      <p:ext uri="{BB962C8B-B14F-4D97-AF65-F5344CB8AC3E}">
        <p14:creationId xmlns:p14="http://schemas.microsoft.com/office/powerpoint/2010/main" val="49851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382000" cy="6324600"/>
          </a:xfrm>
        </p:spPr>
        <p:txBody>
          <a:bodyPr>
            <a:normAutofit fontScale="40000" lnSpcReduction="20000"/>
          </a:bodyPr>
          <a:lstStyle/>
          <a:p>
            <a:pPr marL="0" indent="0">
              <a:buNone/>
            </a:pPr>
            <a:r>
              <a:rPr lang="en-US" sz="6200" b="1" dirty="0"/>
              <a:t>3. Salary </a:t>
            </a:r>
            <a:r>
              <a:rPr lang="en-US" sz="6200" b="1" dirty="0" smtClean="0"/>
              <a:t>and </a:t>
            </a:r>
            <a:r>
              <a:rPr lang="en-US" sz="6200" b="1" dirty="0"/>
              <a:t>Pay Gap</a:t>
            </a:r>
          </a:p>
          <a:p>
            <a:pPr lvl="1">
              <a:buFont typeface="Wingdings" pitchFamily="2" charset="2"/>
              <a:buChar char="v"/>
            </a:pPr>
            <a:r>
              <a:rPr lang="en-US" sz="6200" dirty="0"/>
              <a:t>Males  earn higher cumulative salaries than females</a:t>
            </a:r>
          </a:p>
          <a:p>
            <a:pPr lvl="1">
              <a:buFont typeface="Wingdings" pitchFamily="2" charset="2"/>
              <a:buChar char="v"/>
            </a:pPr>
            <a:r>
              <a:rPr lang="en-US" sz="6200" dirty="0"/>
              <a:t>Pay gaps are most visible in: Engineering,  Legal , Product Management</a:t>
            </a:r>
          </a:p>
          <a:p>
            <a:pPr lvl="1">
              <a:buFont typeface="Wingdings" pitchFamily="2" charset="2"/>
              <a:buChar char="v"/>
            </a:pPr>
            <a:r>
              <a:rPr lang="en-US" sz="6200" dirty="0"/>
              <a:t>Significant number of employees earn below the $90,000 minimum wage</a:t>
            </a:r>
          </a:p>
          <a:p>
            <a:pPr marL="457200" lvl="1" indent="0">
              <a:buNone/>
            </a:pPr>
            <a:r>
              <a:rPr lang="en-US" sz="6200" b="1" dirty="0"/>
              <a:t>NOTE: </a:t>
            </a:r>
            <a:r>
              <a:rPr lang="en-US" sz="6200" dirty="0"/>
              <a:t>This confirms both a gender pay gap and regulatory compliance risk</a:t>
            </a:r>
            <a:r>
              <a:rPr lang="en-US" sz="6200" dirty="0" smtClean="0"/>
              <a:t>.</a:t>
            </a:r>
          </a:p>
          <a:p>
            <a:pPr marL="457200" lvl="1" indent="0">
              <a:buNone/>
            </a:pPr>
            <a:endParaRPr lang="en-US" sz="6200" dirty="0"/>
          </a:p>
          <a:p>
            <a:pPr marL="0" indent="0">
              <a:buNone/>
            </a:pPr>
            <a:r>
              <a:rPr lang="en-US" sz="6200" b="1" dirty="0"/>
              <a:t>4. Bonus </a:t>
            </a:r>
            <a:r>
              <a:rPr lang="en-US" sz="6200" b="1" dirty="0" smtClean="0"/>
              <a:t>and </a:t>
            </a:r>
            <a:r>
              <a:rPr lang="en-US" sz="6200" b="1" dirty="0"/>
              <a:t>Payroll</a:t>
            </a:r>
          </a:p>
          <a:p>
            <a:pPr lvl="1">
              <a:buFont typeface="Wingdings" pitchFamily="2" charset="2"/>
              <a:buChar char="v"/>
            </a:pPr>
            <a:r>
              <a:rPr lang="en-US" sz="6200" dirty="0"/>
              <a:t>Total bonus paid: $1.78bn</a:t>
            </a:r>
          </a:p>
          <a:p>
            <a:pPr lvl="1">
              <a:buFont typeface="Wingdings" pitchFamily="2" charset="2"/>
              <a:buChar char="v"/>
            </a:pPr>
            <a:r>
              <a:rPr lang="en-US" sz="6200" dirty="0"/>
              <a:t>Total payroll: $58.17bn</a:t>
            </a:r>
          </a:p>
          <a:p>
            <a:pPr lvl="1">
              <a:buFont typeface="Wingdings" pitchFamily="2" charset="2"/>
              <a:buChar char="v"/>
            </a:pPr>
            <a:r>
              <a:rPr lang="en-US" sz="6200" dirty="0"/>
              <a:t>Kaduna receives the highest bonus allocation</a:t>
            </a:r>
          </a:p>
          <a:p>
            <a:pPr lvl="1">
              <a:buFont typeface="Wingdings" pitchFamily="2" charset="2"/>
              <a:buChar char="v"/>
            </a:pPr>
            <a:r>
              <a:rPr lang="en-US" sz="6200" dirty="0"/>
              <a:t>Lagos receives the lowest, despite cost-of-living pressure</a:t>
            </a:r>
          </a:p>
          <a:p>
            <a:pPr marL="0" indent="0">
              <a:buNone/>
            </a:pPr>
            <a:r>
              <a:rPr lang="en-US" sz="6200" b="1" dirty="0"/>
              <a:t>NOTE:</a:t>
            </a:r>
            <a:r>
              <a:rPr lang="en-US" sz="6200" dirty="0"/>
              <a:t> Bonus distribution mirrors ratings and headcount, reinforcing existing inequalities.</a:t>
            </a:r>
          </a:p>
          <a:p>
            <a:endParaRPr lang="en-US" sz="8000" dirty="0"/>
          </a:p>
          <a:p>
            <a:endParaRPr lang="en-US" dirty="0"/>
          </a:p>
        </p:txBody>
      </p:sp>
    </p:spTree>
    <p:extLst>
      <p:ext uri="{BB962C8B-B14F-4D97-AF65-F5344CB8AC3E}">
        <p14:creationId xmlns:p14="http://schemas.microsoft.com/office/powerpoint/2010/main" val="44090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dirty="0" smtClean="0"/>
              <a:t/>
            </a:r>
            <a:br>
              <a:rPr lang="en-US" sz="2400" b="1" dirty="0" smtClean="0"/>
            </a:br>
            <a:r>
              <a:rPr lang="en-US" sz="2400" b="1" dirty="0" smtClean="0"/>
              <a:t>Strategic </a:t>
            </a:r>
            <a:r>
              <a:rPr lang="en-US" sz="2400" b="1" dirty="0"/>
              <a:t>Recommendations (What Management Should Do)</a:t>
            </a:r>
            <a:br>
              <a:rPr lang="en-US" sz="2400" b="1" dirty="0"/>
            </a:br>
            <a:endParaRPr lang="en-US" sz="2400" b="1" dirty="0"/>
          </a:p>
        </p:txBody>
      </p:sp>
      <p:sp>
        <p:nvSpPr>
          <p:cNvPr id="3" name="Content Placeholder 2"/>
          <p:cNvSpPr>
            <a:spLocks noGrp="1"/>
          </p:cNvSpPr>
          <p:nvPr>
            <p:ph idx="1"/>
          </p:nvPr>
        </p:nvSpPr>
        <p:spPr>
          <a:xfrm>
            <a:off x="381000" y="990600"/>
            <a:ext cx="8305800" cy="5135563"/>
          </a:xfrm>
        </p:spPr>
        <p:txBody>
          <a:bodyPr>
            <a:normAutofit fontScale="47500" lnSpcReduction="20000"/>
          </a:bodyPr>
          <a:lstStyle/>
          <a:p>
            <a:pPr marL="514350" indent="-514350">
              <a:buFont typeface="+mj-lt"/>
              <a:buAutoNum type="arabicPeriod"/>
            </a:pPr>
            <a:r>
              <a:rPr lang="en-US" sz="3600" b="1" dirty="0" smtClean="0"/>
              <a:t>Gender </a:t>
            </a:r>
            <a:r>
              <a:rPr lang="en-US" sz="3600" b="1" dirty="0"/>
              <a:t>Equity</a:t>
            </a:r>
          </a:p>
          <a:p>
            <a:pPr lvl="1">
              <a:buFont typeface="Wingdings" pitchFamily="2" charset="2"/>
              <a:buChar char="v"/>
            </a:pPr>
            <a:r>
              <a:rPr lang="en-US" sz="3600" dirty="0"/>
              <a:t>Introduce department-level diversity targets</a:t>
            </a:r>
          </a:p>
          <a:p>
            <a:pPr lvl="1">
              <a:buFont typeface="Wingdings" pitchFamily="2" charset="2"/>
              <a:buChar char="v"/>
            </a:pPr>
            <a:r>
              <a:rPr lang="en-US" sz="3600" dirty="0"/>
              <a:t>Promote female participation in technical and leadership </a:t>
            </a:r>
            <a:r>
              <a:rPr lang="en-US" sz="3600" dirty="0" smtClean="0"/>
              <a:t>roles</a:t>
            </a:r>
            <a:endParaRPr lang="en-US" sz="3600" dirty="0"/>
          </a:p>
          <a:p>
            <a:pPr marL="514350" indent="-514350">
              <a:buFont typeface="+mj-lt"/>
              <a:buAutoNum type="arabicPeriod"/>
            </a:pPr>
            <a:r>
              <a:rPr lang="en-US" sz="3600" b="1" dirty="0"/>
              <a:t>Pay Equity</a:t>
            </a:r>
          </a:p>
          <a:p>
            <a:pPr lvl="1">
              <a:buFont typeface="Wingdings" pitchFamily="2" charset="2"/>
              <a:buChar char="v"/>
            </a:pPr>
            <a:r>
              <a:rPr lang="en-US" sz="3600" dirty="0"/>
              <a:t>Conduct salary correction exercises in high-gap departments</a:t>
            </a:r>
          </a:p>
          <a:p>
            <a:pPr lvl="1">
              <a:buFont typeface="Wingdings" pitchFamily="2" charset="2"/>
              <a:buChar char="v"/>
            </a:pPr>
            <a:r>
              <a:rPr lang="en-US" sz="3600" dirty="0"/>
              <a:t>Standardize salary bands across </a:t>
            </a:r>
            <a:r>
              <a:rPr lang="en-US" sz="3600" dirty="0" smtClean="0"/>
              <a:t>regions</a:t>
            </a:r>
            <a:endParaRPr lang="en-US" sz="3600" dirty="0"/>
          </a:p>
          <a:p>
            <a:pPr marL="514350" indent="-514350">
              <a:buFont typeface="+mj-lt"/>
              <a:buAutoNum type="arabicPeriod"/>
            </a:pPr>
            <a:r>
              <a:rPr lang="en-US" sz="3600" b="1" dirty="0"/>
              <a:t>Performance Governance</a:t>
            </a:r>
          </a:p>
          <a:p>
            <a:pPr lvl="1">
              <a:buFont typeface="Wingdings" pitchFamily="2" charset="2"/>
              <a:buChar char="v"/>
            </a:pPr>
            <a:r>
              <a:rPr lang="en-US" sz="3600" dirty="0"/>
              <a:t>Implement uniform rating criteria</a:t>
            </a:r>
          </a:p>
          <a:p>
            <a:pPr lvl="1">
              <a:buFont typeface="Wingdings" pitchFamily="2" charset="2"/>
              <a:buChar char="v"/>
            </a:pPr>
            <a:r>
              <a:rPr lang="en-US" sz="3600" dirty="0"/>
              <a:t>Introduce cross-department rating </a:t>
            </a:r>
            <a:r>
              <a:rPr lang="en-US" sz="3600" dirty="0" smtClean="0"/>
              <a:t>calibration</a:t>
            </a:r>
            <a:endParaRPr lang="en-US" sz="3600" dirty="0"/>
          </a:p>
          <a:p>
            <a:pPr marL="514350" indent="-514350">
              <a:buFont typeface="+mj-lt"/>
              <a:buAutoNum type="arabicPeriod"/>
            </a:pPr>
            <a:r>
              <a:rPr lang="en-US" sz="3600" b="1" dirty="0"/>
              <a:t>Compliance</a:t>
            </a:r>
          </a:p>
          <a:p>
            <a:pPr lvl="1">
              <a:buFont typeface="Wingdings" pitchFamily="2" charset="2"/>
              <a:buChar char="v"/>
            </a:pPr>
            <a:r>
              <a:rPr lang="en-US" sz="3600" dirty="0"/>
              <a:t>Adjust all salaries below $90,000</a:t>
            </a:r>
          </a:p>
          <a:p>
            <a:pPr lvl="1">
              <a:buFont typeface="Wingdings" pitchFamily="2" charset="2"/>
              <a:buChar char="v"/>
            </a:pPr>
            <a:r>
              <a:rPr lang="en-US" sz="3600" dirty="0"/>
              <a:t>Automate wage compliance </a:t>
            </a:r>
            <a:r>
              <a:rPr lang="en-US" sz="3600" dirty="0" smtClean="0"/>
              <a:t>checks</a:t>
            </a:r>
            <a:endParaRPr lang="en-US" sz="3600" dirty="0"/>
          </a:p>
          <a:p>
            <a:pPr marL="514350" indent="-514350">
              <a:buFont typeface="+mj-lt"/>
              <a:buAutoNum type="arabicPeriod"/>
            </a:pPr>
            <a:r>
              <a:rPr lang="en-US" sz="3600" b="1" dirty="0" smtClean="0"/>
              <a:t>Bonus </a:t>
            </a:r>
            <a:r>
              <a:rPr lang="en-US" sz="3600" b="1" dirty="0"/>
              <a:t>Governance</a:t>
            </a:r>
          </a:p>
          <a:p>
            <a:pPr lvl="1">
              <a:buFont typeface="Wingdings" pitchFamily="2" charset="2"/>
              <a:buChar char="v"/>
            </a:pPr>
            <a:r>
              <a:rPr lang="en-US" sz="3600" dirty="0"/>
              <a:t>Improve transparency in bonus calculation</a:t>
            </a:r>
          </a:p>
          <a:p>
            <a:pPr lvl="1">
              <a:buFont typeface="Wingdings" pitchFamily="2" charset="2"/>
              <a:buChar char="v"/>
            </a:pPr>
            <a:r>
              <a:rPr lang="en-US" sz="3600" dirty="0"/>
              <a:t>Align bonuses with both performance and equity </a:t>
            </a:r>
            <a:r>
              <a:rPr lang="en-US" sz="3600" dirty="0" smtClean="0"/>
              <a:t>goals</a:t>
            </a:r>
          </a:p>
          <a:p>
            <a:pPr marL="457200" lvl="1" indent="0">
              <a:buNone/>
            </a:pPr>
            <a:endParaRPr lang="en-US" sz="3600" dirty="0"/>
          </a:p>
          <a:p>
            <a:pPr marL="0" indent="0">
              <a:buNone/>
            </a:pPr>
            <a:r>
              <a:rPr lang="en-US" sz="3600" b="1" dirty="0" smtClean="0"/>
              <a:t>NOTE:</a:t>
            </a:r>
            <a:r>
              <a:rPr lang="en-US" sz="3600" dirty="0"/>
              <a:t> </a:t>
            </a:r>
            <a:r>
              <a:rPr lang="en-US" sz="3600" dirty="0" smtClean="0"/>
              <a:t>These </a:t>
            </a:r>
            <a:r>
              <a:rPr lang="en-US" sz="3600" dirty="0"/>
              <a:t>actions reduce legal risk, improve morale, and support Palmoria’s expansion goals.</a:t>
            </a:r>
          </a:p>
          <a:p>
            <a:endParaRPr lang="en-US" dirty="0"/>
          </a:p>
        </p:txBody>
      </p:sp>
    </p:spTree>
    <p:extLst>
      <p:ext uri="{BB962C8B-B14F-4D97-AF65-F5344CB8AC3E}">
        <p14:creationId xmlns:p14="http://schemas.microsoft.com/office/powerpoint/2010/main" val="1315644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sz="2700" b="1" dirty="0" smtClean="0"/>
              <a:t>Final </a:t>
            </a:r>
            <a:r>
              <a:rPr lang="en-US" sz="2700" b="1" dirty="0"/>
              <a:t>Conclusion (Why This Analysis Matters)</a:t>
            </a:r>
            <a:br>
              <a:rPr lang="en-US" sz="2700" b="1" dirty="0"/>
            </a:br>
            <a:endParaRPr lang="en-US" sz="2700" b="1" dirty="0"/>
          </a:p>
        </p:txBody>
      </p:sp>
      <p:sp>
        <p:nvSpPr>
          <p:cNvPr id="3" name="Content Placeholder 2"/>
          <p:cNvSpPr>
            <a:spLocks noGrp="1"/>
          </p:cNvSpPr>
          <p:nvPr>
            <p:ph idx="1"/>
          </p:nvPr>
        </p:nvSpPr>
        <p:spPr>
          <a:xfrm>
            <a:off x="381000" y="685800"/>
            <a:ext cx="8305800" cy="5440363"/>
          </a:xfrm>
        </p:spPr>
        <p:txBody>
          <a:bodyPr>
            <a:normAutofit fontScale="77500" lnSpcReduction="20000"/>
          </a:bodyPr>
          <a:lstStyle/>
          <a:p>
            <a:pPr marL="0" indent="0">
              <a:buNone/>
            </a:pPr>
            <a:r>
              <a:rPr lang="en-US" dirty="0" smtClean="0"/>
              <a:t>The </a:t>
            </a:r>
            <a:r>
              <a:rPr lang="en-US" dirty="0"/>
              <a:t>analysis shows that Palmoria’s challenge is not lack of resources, but inequitable allocation. By using this dashboard as a continuous decision-support tool, management can correct gender imbalance, ensure compliance, and improve </a:t>
            </a:r>
            <a:r>
              <a:rPr lang="en-US" dirty="0" smtClean="0"/>
              <a:t>productivity</a:t>
            </a:r>
            <a:r>
              <a:rPr lang="en-US" dirty="0"/>
              <a:t> </a:t>
            </a:r>
            <a:r>
              <a:rPr lang="en-US" dirty="0" smtClean="0"/>
              <a:t>in the following ways:</a:t>
            </a:r>
            <a:endParaRPr lang="en-US" dirty="0"/>
          </a:p>
          <a:p>
            <a:pPr>
              <a:buFont typeface="Wingdings" pitchFamily="2" charset="2"/>
              <a:buChar char="v"/>
            </a:pPr>
            <a:r>
              <a:rPr lang="en-US" dirty="0"/>
              <a:t>Business Value</a:t>
            </a:r>
          </a:p>
          <a:p>
            <a:pPr>
              <a:buFont typeface="Wingdings" pitchFamily="2" charset="2"/>
              <a:buChar char="v"/>
            </a:pPr>
            <a:r>
              <a:rPr lang="en-US" dirty="0"/>
              <a:t>Stronger employer brand</a:t>
            </a:r>
          </a:p>
          <a:p>
            <a:pPr>
              <a:buFont typeface="Wingdings" pitchFamily="2" charset="2"/>
              <a:buChar char="v"/>
            </a:pPr>
            <a:r>
              <a:rPr lang="en-US" dirty="0"/>
              <a:t>Higher employee retention</a:t>
            </a:r>
          </a:p>
          <a:p>
            <a:pPr>
              <a:buFont typeface="Wingdings" pitchFamily="2" charset="2"/>
              <a:buChar char="v"/>
            </a:pPr>
            <a:r>
              <a:rPr lang="en-US" dirty="0"/>
              <a:t>Improved productivity</a:t>
            </a:r>
          </a:p>
          <a:p>
            <a:pPr>
              <a:buFont typeface="Wingdings" pitchFamily="2" charset="2"/>
              <a:buChar char="v"/>
            </a:pPr>
            <a:r>
              <a:rPr lang="en-US" dirty="0"/>
              <a:t>Reduced reputational and regulatory risk</a:t>
            </a:r>
          </a:p>
          <a:p>
            <a:pPr marL="0" indent="0">
              <a:buNone/>
            </a:pPr>
            <a:endParaRPr lang="en-US" dirty="0"/>
          </a:p>
          <a:p>
            <a:pPr marL="0" indent="0">
              <a:buNone/>
            </a:pPr>
            <a:r>
              <a:rPr lang="en-US" dirty="0"/>
              <a:t>“This dashboard transforms HR data into strategic insight, enabling Palmoria Group to move from reactive management to proactive, evidence-based decision-making.”</a:t>
            </a:r>
          </a:p>
          <a:p>
            <a:endParaRPr lang="en-US" dirty="0"/>
          </a:p>
        </p:txBody>
      </p:sp>
    </p:spTree>
    <p:extLst>
      <p:ext uri="{BB962C8B-B14F-4D97-AF65-F5344CB8AC3E}">
        <p14:creationId xmlns:p14="http://schemas.microsoft.com/office/powerpoint/2010/main" val="2125266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2990850"/>
          </a:xfrm>
        </p:spPr>
        <p:txBody>
          <a:bodyPr>
            <a:normAutofit/>
          </a:bodyPr>
          <a:lstStyle/>
          <a:p>
            <a:r>
              <a:rPr lang="en-US" b="1" dirty="0" smtClean="0"/>
              <a:t>THANK YOU FOR GIVING ME YOUR </a:t>
            </a:r>
            <a:r>
              <a:rPr lang="en-US" b="1" smtClean="0"/>
              <a:t>ATTENTION DURING THIS </a:t>
            </a:r>
            <a:r>
              <a:rPr lang="en-US" b="1" dirty="0" smtClean="0"/>
              <a:t>PRESENTATION</a:t>
            </a:r>
            <a:endParaRPr lang="en-US" b="1" dirty="0"/>
          </a:p>
        </p:txBody>
      </p:sp>
    </p:spTree>
    <p:extLst>
      <p:ext uri="{BB962C8B-B14F-4D97-AF65-F5344CB8AC3E}">
        <p14:creationId xmlns:p14="http://schemas.microsoft.com/office/powerpoint/2010/main" val="4034224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2043</TotalTime>
  <Words>2828</Words>
  <Application>Microsoft Office PowerPoint</Application>
  <PresentationFormat>On-screen Show (4:3)</PresentationFormat>
  <Paragraphs>341</Paragraphs>
  <Slides>20</Slides>
  <Notes>17</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 TITLE: Gender Equality and Compensation Analysis For Palmoria Group using Power BI   `</vt:lpstr>
      <vt:lpstr>Data Description</vt:lpstr>
      <vt:lpstr>Objectives of the Analysis</vt:lpstr>
      <vt:lpstr>DATA PREPARATION &amp; TRANSFORMATION</vt:lpstr>
      <vt:lpstr>GENDER DISTRIBUTION AND GEOGRAPHIC WORKFORCE COMPOSITION ANALYSIS</vt:lpstr>
      <vt:lpstr>Gender Distribution Analysis Charts</vt:lpstr>
      <vt:lpstr> PERFORMANCE RATINGS DISTRIBUTION BY GENDER </vt:lpstr>
      <vt:lpstr>Chart showing Gender Analysis by Ratings</vt:lpstr>
      <vt:lpstr> GENDER PAY GAP ANALYSIS</vt:lpstr>
      <vt:lpstr>Charts showing Gender Pay Gap Analysis</vt:lpstr>
      <vt:lpstr>  MINIMUM SALARY COMPLIANCE ($90,000) </vt:lpstr>
      <vt:lpstr>SALARY BAND DISTRIBUTION </vt:lpstr>
      <vt:lpstr>BONUS &amp; TOTAL COMPENSATION ANALYSIS</vt:lpstr>
      <vt:lpstr>CHARTS SHOWING BONUS AND TOTAL COMPENSATION ANALYSIS</vt:lpstr>
      <vt:lpstr> Dashboard For Gender Equality and Compensation Analysis </vt:lpstr>
      <vt:lpstr>Key Insights from the Dashboard (What the Data Says)</vt:lpstr>
      <vt:lpstr>PowerPoint Presentation</vt:lpstr>
      <vt:lpstr> Strategic Recommendations (What Management Should Do) </vt:lpstr>
      <vt:lpstr>Final Conclusion (Why This Analysis Matters) </vt:lpstr>
      <vt:lpstr>THANK YOU FOR GIVING ME YOUR ATTENTION DURING THIS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134</cp:revision>
  <dcterms:created xsi:type="dcterms:W3CDTF">2026-01-16T07:01:56Z</dcterms:created>
  <dcterms:modified xsi:type="dcterms:W3CDTF">2026-01-30T10:50:18Z</dcterms:modified>
</cp:coreProperties>
</file>